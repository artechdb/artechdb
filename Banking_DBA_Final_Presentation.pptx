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308"/>
    <p:restoredTop sz="66267"/>
  </p:normalViewPr>
  <p:slideViewPr>
    <p:cSldViewPr snapToGrid="0" snapToObjects="1">
      <p:cViewPr varScale="1">
        <p:scale>
          <a:sx n="94" d="100"/>
          <a:sy n="94" d="100"/>
        </p:scale>
        <p:origin x="3824" y="2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060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Good morning, everyone. Thank you for joining me.</a:t>
            </a:r>
          </a:p>
          <a:p>
            <a:endParaRPr/>
          </a:p>
          <a:p>
            <a:r>
              <a:t>My name is [Your Name], and I am a Senior DBA here.</a:t>
            </a:r>
          </a:p>
          <a:p>
            <a:endParaRPr/>
          </a:p>
          <a:p>
            <a:r>
              <a:t>Today, I want to talk about a critical part of our infrastructure: Our Databases.</a:t>
            </a:r>
          </a:p>
          <a:p>
            <a:endParaRPr/>
          </a:p>
          <a:p>
            <a:r>
              <a:t>Specifically, I want to show you how we can modernize the way we clone and manage our Oracle Pluggable Databases.</a:t>
            </a:r>
          </a:p>
          <a:p>
            <a:endParaRPr/>
          </a:p>
          <a:p>
            <a:r>
              <a:t>We have developed a new strategy. It uses automation to reduce risk, save time, and ensure we are 100% audit-compliant.</a:t>
            </a:r>
          </a:p>
          <a:p>
            <a:endParaRPr/>
          </a:p>
          <a:p>
            <a:r>
              <a:t>Let's begin.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Here is our roadmap for the next 15 minutes.</a:t>
            </a:r>
          </a:p>
          <a:p>
            <a:endParaRPr/>
          </a:p>
          <a:p>
            <a:r>
              <a:t>First, I will explain the risks we currently face with our manual processes.</a:t>
            </a:r>
          </a:p>
          <a:p>
            <a:endParaRPr/>
          </a:p>
          <a:p>
            <a:r>
              <a:t>Second, I will introduce the new Toolkit we have designed.</a:t>
            </a:r>
          </a:p>
          <a:p>
            <a:endParaRPr/>
          </a:p>
          <a:p>
            <a:r>
              <a:t>Third, we will look at the technical side: the Architecture and, most importantly, the Security.</a:t>
            </a:r>
          </a:p>
          <a:p>
            <a:endParaRPr/>
          </a:p>
          <a:p>
            <a:r>
              <a:t>Then, I will walk you through the exact 3-step workflow.</a:t>
            </a:r>
          </a:p>
          <a:p>
            <a:endParaRPr/>
          </a:p>
          <a:p>
            <a:r>
              <a:t>Finally, we will discuss the Audit benefits and our plan for implementation.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Let's look at where we are today.</a:t>
            </a:r>
          </a:p>
          <a:p>
            <a:endParaRPr/>
          </a:p>
          <a:p>
            <a:r>
              <a:t>On the left, you see our manual process.</a:t>
            </a:r>
          </a:p>
          <a:p>
            <a:r>
              <a:t>Currently, DBAs have to type complex commands by hand.</a:t>
            </a:r>
          </a:p>
          <a:p>
            <a:r>
              <a:t>This is dangerous. A single typo can break a database.</a:t>
            </a:r>
          </a:p>
          <a:p>
            <a:r>
              <a:t>Also, when we fix things manually, we often forget to document it. This leaves us with zero audit trail.</a:t>
            </a:r>
          </a:p>
          <a:p>
            <a:endParaRPr/>
          </a:p>
          <a:p>
            <a:r>
              <a:t>On the right, you see the business impact.</a:t>
            </a:r>
          </a:p>
          <a:p>
            <a:r>
              <a:t>Our developers wait days for data.</a:t>
            </a:r>
          </a:p>
          <a:p>
            <a:r>
              <a:t>Our security is at risk because of human error.</a:t>
            </a:r>
          </a:p>
          <a:p>
            <a:r>
              <a:t>And we have gaps in our compliance reporting.</a:t>
            </a:r>
          </a:p>
          <a:p>
            <a:endParaRPr/>
          </a:p>
          <a:p>
            <a:r>
              <a:t>We need to change this.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Our solution is the Oracle PDB Toolkit.</a:t>
            </a:r>
          </a:p>
          <a:p>
            <a:endParaRPr/>
          </a:p>
          <a:p>
            <a:r>
              <a:t>It is a centralized software engine that sits in the middle of our operations.</a:t>
            </a:r>
          </a:p>
          <a:p>
            <a:endParaRPr/>
          </a:p>
          <a:p>
            <a:r>
              <a:t>It has four key capabilities:</a:t>
            </a:r>
          </a:p>
          <a:p>
            <a:r>
              <a:t>1. It uses standardized Python logic, so every run is identical.</a:t>
            </a:r>
          </a:p>
          <a:p>
            <a:r>
              <a:t>2. It has security integrated directly into the code.</a:t>
            </a:r>
          </a:p>
          <a:p>
            <a:r>
              <a:t>3. It forces a strict 3-step validation process.</a:t>
            </a:r>
          </a:p>
          <a:p>
            <a:r>
              <a:t>4. It generates reports automatically.</a:t>
            </a:r>
          </a:p>
          <a:p>
            <a:endParaRPr/>
          </a:p>
          <a:p>
            <a:r>
              <a:t>It replaces "guesswork" with "guarantees".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Let's look under the hood at the Technical Architecture.</a:t>
            </a:r>
          </a:p>
          <a:p>
            <a:endParaRPr/>
          </a:p>
          <a:p>
            <a:r>
              <a:t>We designed this as a 4-layer stack.</a:t>
            </a:r>
          </a:p>
          <a:p>
            <a:endParaRPr/>
          </a:p>
          <a:p>
            <a:r>
              <a:t>At the top, we have the User Interface. This allows even junior DBAs to operate safely without memorizing commands.</a:t>
            </a:r>
          </a:p>
          <a:p>
            <a:endParaRPr/>
          </a:p>
          <a:p>
            <a:r>
              <a:t>The second layer is the Brain. This is the Python Logic Layer that makes all the decisions.</a:t>
            </a:r>
          </a:p>
          <a:p>
            <a:endParaRPr/>
          </a:p>
          <a:p>
            <a:r>
              <a:t>The third layer is the Driver. We use the official Oracle Thick Client to ensure stability.</a:t>
            </a:r>
          </a:p>
          <a:p>
            <a:endParaRPr/>
          </a:p>
          <a:p>
            <a:r>
              <a:t>And at the bottom, it connects to our existing Oracle Databases.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I want to highlight Security, because in banking, this is our top priority.</a:t>
            </a:r>
          </a:p>
          <a:p>
            <a:endParaRPr dirty="0"/>
          </a:p>
          <a:p>
            <a:r>
              <a:rPr dirty="0"/>
              <a:t>We built this tool to be "Bank Grade".</a:t>
            </a:r>
          </a:p>
          <a:p>
            <a:endParaRPr dirty="0"/>
          </a:p>
          <a:p>
            <a:r>
              <a:rPr dirty="0"/>
              <a:t>First, Authentication. It uses your existing Windows Single Sign-On.</a:t>
            </a:r>
          </a:p>
          <a:p>
            <a:r>
              <a:rPr dirty="0"/>
              <a:t>Second, Credentials. It supports Oracle Wallet. We do NOT store passwords in plain text files.</a:t>
            </a:r>
          </a:p>
          <a:p>
            <a:r>
              <a:rPr dirty="0"/>
              <a:t>Third, Encryption. It automatically detects if TDE is enabled and handles the keys correctly.</a:t>
            </a:r>
          </a:p>
          <a:p>
            <a:endParaRPr dirty="0"/>
          </a:p>
          <a:p>
            <a:r>
              <a:rPr dirty="0"/>
              <a:t>This tool actually improves our security posture by removing human access to raw passwords.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The core of the system is what we call the "Intelligent Engine".</a:t>
            </a:r>
          </a:p>
          <a:p>
            <a:endParaRPr/>
          </a:p>
          <a:p>
            <a:r>
              <a:t>It does not just run a script. It makes decisions.</a:t>
            </a:r>
          </a:p>
          <a:p>
            <a:endParaRPr/>
          </a:p>
          <a:p>
            <a:r>
              <a:t>When you start, it checks the environment automatically.</a:t>
            </a:r>
          </a:p>
          <a:p>
            <a:endParaRPr/>
          </a:p>
          <a:p>
            <a:r>
              <a:t>If it detects a Production database, it goes into "Prod Mode". It enforces extra audit checks and safety delays.</a:t>
            </a:r>
          </a:p>
          <a:p>
            <a:endParaRPr/>
          </a:p>
          <a:p>
            <a:r>
              <a:t>If it detects a Development database, it goes into "Dev Mode". It optimizes for speed.</a:t>
            </a:r>
          </a:p>
          <a:p>
            <a:endParaRPr/>
          </a:p>
          <a:p>
            <a:r>
              <a:t>This dynamic decision-making prevents accidental overwrites of critical data.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Now, let's look at the workflow steps.</a:t>
            </a:r>
          </a:p>
          <a:p>
            <a:endParaRPr/>
          </a:p>
          <a:p>
            <a:r>
              <a:t>Step 1 is Deep Validation.</a:t>
            </a:r>
          </a:p>
          <a:p>
            <a:endParaRPr/>
          </a:p>
          <a:p>
            <a:r>
              <a:t>Most manual errors happen because a human forgot to check something basic. "Did we have enough disk space? Was the wallet open?"</a:t>
            </a:r>
          </a:p>
          <a:p>
            <a:endParaRPr/>
          </a:p>
          <a:p>
            <a:r>
              <a:t>The Toolkit checks all of these automatically.</a:t>
            </a:r>
          </a:p>
          <a:p>
            <a:r>
              <a:t>Storage, Versions, Character sets, and Encryption.</a:t>
            </a:r>
          </a:p>
          <a:p>
            <a:endParaRPr/>
          </a:p>
          <a:p>
            <a:r>
              <a:t>If ANY check fails, the process stops immediately.</a:t>
            </a:r>
          </a:p>
          <a:p>
            <a:r>
              <a:t>This ensures we never end up with a broken or half-cloned database.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Step 2 is Execution.</a:t>
            </a:r>
          </a:p>
          <a:p>
            <a:endParaRPr/>
          </a:p>
          <a:p>
            <a:r>
              <a:t>This is where the heavy lifting happens.</a:t>
            </a:r>
          </a:p>
          <a:p>
            <a:endParaRPr/>
          </a:p>
          <a:p>
            <a:r>
              <a:t>The tool creates a temporary database link between Production and Development.</a:t>
            </a:r>
          </a:p>
          <a:p>
            <a:r>
              <a:t>It executes the cloning command.</a:t>
            </a:r>
          </a:p>
          <a:p>
            <a:r>
              <a:t>It handles all the complex file conversions.</a:t>
            </a:r>
          </a:p>
          <a:p>
            <a:r>
              <a:t>And it opens the new database.</a:t>
            </a:r>
          </a:p>
          <a:p>
            <a:endParaRPr/>
          </a:p>
          <a:p>
            <a:r>
              <a:t>There is zero manual typing here. This eliminates the risk of typos.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Step 3 is Verification.</a:t>
            </a:r>
          </a:p>
          <a:p>
            <a:endParaRPr/>
          </a:p>
          <a:p>
            <a:r>
              <a:t>We do not just finish the job and hope for the best. We verify.</a:t>
            </a:r>
          </a:p>
          <a:p>
            <a:endParaRPr/>
          </a:p>
          <a:p>
            <a:r>
              <a:t>The tool runs a post-clone check.</a:t>
            </a:r>
          </a:p>
          <a:p>
            <a:r>
              <a:t>It asks: Is the database open?</a:t>
            </a:r>
          </a:p>
          <a:p>
            <a:r>
              <a:t>Do the table counts match the source?</a:t>
            </a:r>
          </a:p>
          <a:p>
            <a:r>
              <a:t>Are there any invalid objects?</a:t>
            </a:r>
          </a:p>
          <a:p>
            <a:endParaRPr/>
          </a:p>
          <a:p>
            <a:r>
              <a:t>It confirms that the data is identical before it marks the job as "Success".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This is a key feature for our Compliance team.</a:t>
            </a:r>
          </a:p>
          <a:p>
            <a:endParaRPr/>
          </a:p>
          <a:p>
            <a:r>
              <a:t>Every time we run the tool, it automatically generates a report.</a:t>
            </a:r>
          </a:p>
          <a:p>
            <a:endParaRPr/>
          </a:p>
          <a:p>
            <a:r>
              <a:t>It records exactly WHO ran the job.</a:t>
            </a:r>
          </a:p>
          <a:p>
            <a:r>
              <a:t>It records WHEN they did it.</a:t>
            </a:r>
          </a:p>
          <a:p>
            <a:r>
              <a:t>And it records the Result.</a:t>
            </a:r>
          </a:p>
          <a:p>
            <a:endParaRPr/>
          </a:p>
          <a:p>
            <a:r>
              <a:t>We can save these reports as PDFs.</a:t>
            </a:r>
          </a:p>
          <a:p>
            <a:r>
              <a:t>When the auditors come, we simply hand them the folder. No more scrambling for logs.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The toolkit does more than just cloning. It also includes a "Health Check" module.</a:t>
            </a:r>
          </a:p>
          <a:p>
            <a:endParaRPr/>
          </a:p>
          <a:p>
            <a:r>
              <a:t>We can use it to monitor the vital signs of our databases.</a:t>
            </a:r>
          </a:p>
          <a:p>
            <a:endParaRPr/>
          </a:p>
          <a:p>
            <a:r>
              <a:t>It checks Performance: detecting slow queries.</a:t>
            </a:r>
          </a:p>
          <a:p>
            <a:r>
              <a:t>It checks Storage: warning us before disks get full.</a:t>
            </a:r>
          </a:p>
          <a:p>
            <a:r>
              <a:t>And it scans the Alert Logs for errors.</a:t>
            </a:r>
          </a:p>
          <a:p>
            <a:endParaRPr/>
          </a:p>
          <a:p>
            <a:r>
              <a:t>This allows us to be proactive, fixing issues before they cause an outage.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So, what is the Return on Investment?</a:t>
            </a:r>
          </a:p>
          <a:p>
            <a:endParaRPr/>
          </a:p>
          <a:p>
            <a:r>
              <a:t>First, Speed. We have reduced the cloning time by 90%. What used to take hours now takes minutes.</a:t>
            </a:r>
          </a:p>
          <a:p>
            <a:endParaRPr/>
          </a:p>
          <a:p>
            <a:r>
              <a:t>Second, Compliance. We have a 100% pass rate for documented changes.</a:t>
            </a:r>
          </a:p>
          <a:p>
            <a:endParaRPr/>
          </a:p>
          <a:p>
            <a:r>
              <a:t>Third, Cost. We built this using standard Python and Oracle libraries. There are zero additional licensing costs.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Finally, here is our plan for implementation.</a:t>
            </a:r>
          </a:p>
          <a:p>
            <a:endParaRPr/>
          </a:p>
          <a:p>
            <a:r>
              <a:t>In Week 1, we will finalize the security review with InfoSec.</a:t>
            </a:r>
          </a:p>
          <a:p>
            <a:r>
              <a:t>In Week 2, we will deploy the tool to a Pilot Development Server.</a:t>
            </a:r>
          </a:p>
          <a:p>
            <a:r>
              <a:t>In Week 3, we will perform User Acceptance Testing.</a:t>
            </a:r>
          </a:p>
          <a:p>
            <a:r>
              <a:t>And by Week 4, we will be ready for a full rollout.</a:t>
            </a:r>
          </a:p>
          <a:p>
            <a:endParaRPr/>
          </a:p>
          <a:p>
            <a:r>
              <a:t>Thank you for your time. I am happy to answer any questions.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043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321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525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9408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439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1219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4011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8934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076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780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94586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70394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412543"/>
            <a:ext cx="73152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rPr dirty="0"/>
              <a:t>Automating Oracle PDB Lifecycles</a:t>
            </a:r>
            <a:br>
              <a:rPr dirty="0"/>
            </a:br>
            <a:r>
              <a:rPr dirty="0"/>
              <a:t>in Banking</a:t>
            </a:r>
          </a:p>
          <a:p>
            <a:br>
              <a:rPr dirty="0"/>
            </a:br>
            <a:r>
              <a:rPr dirty="0"/>
              <a:t>Strategic Automation for Risk Control &amp; Efficiency</a:t>
            </a:r>
          </a:p>
          <a:p>
            <a:br>
              <a:rPr dirty="0"/>
            </a:br>
            <a:r>
              <a:rPr dirty="0"/>
              <a:t>Presented by: [Your Name], Senior DBA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1. Current Operational Risks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60604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2. Solution Overview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38328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3. Architecture &amp; Security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16052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4. The 3-Step Automated Workflow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5. Audit &amp; Compliance Benefits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715000"/>
            <a:ext cx="7315200" cy="640080"/>
          </a:xfrm>
          <a:prstGeom prst="roundRect">
            <a:avLst/>
          </a:prstGeom>
          <a:solidFill>
            <a:srgbClr val="F2F2F2"/>
          </a:solidFill>
          <a:ln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400">
                <a:solidFill>
                  <a:srgbClr val="404040"/>
                </a:solidFill>
              </a:defRPr>
            </a:pPr>
            <a:r>
              <a:t>   6. Implementation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Cost of Manual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0"/>
            <a:ext cx="3840480" cy="4114800"/>
          </a:xfrm>
          <a:prstGeom prst="rect">
            <a:avLst/>
          </a:prstGeom>
          <a:solidFill>
            <a:srgbClr val="FFEBE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C00000"/>
                </a:solidFill>
              </a:defRPr>
            </a:pPr>
            <a:r>
              <a:rPr dirty="0"/>
              <a:t>MANUAL PROCESS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Complex CLI commands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High risk of typos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Inconsistent configs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Zero audit trail</a:t>
            </a:r>
          </a:p>
        </p:txBody>
      </p:sp>
      <p:sp>
        <p:nvSpPr>
          <p:cNvPr id="4" name="Rectangle 3"/>
          <p:cNvSpPr/>
          <p:nvPr/>
        </p:nvSpPr>
        <p:spPr>
          <a:xfrm>
            <a:off x="4846320" y="1828800"/>
            <a:ext cx="3840480" cy="4114800"/>
          </a:xfrm>
          <a:prstGeom prst="rect">
            <a:avLst/>
          </a:prstGeom>
          <a:solidFill>
            <a:srgbClr val="EBF5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002060"/>
                </a:solidFill>
              </a:defRPr>
            </a:pPr>
            <a:r>
              <a:rPr dirty="0"/>
              <a:t>BUSINESS IMPACT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Slow Turnaround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Security Vulnerabilities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Compliance Gaps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Operational Bottlenecks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297680" y="3657600"/>
            <a:ext cx="548640" cy="457200"/>
          </a:xfrm>
          <a:prstGeom prst="rightArrow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Solution: Oracle PDB Toolkit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2743200"/>
            <a:ext cx="2074460" cy="1951630"/>
          </a:xfrm>
          <a:prstGeom prst="ellipse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 b="1"/>
            </a:pPr>
            <a:r>
              <a:rPr sz="2000" dirty="0"/>
              <a:t>Automation</a:t>
            </a:r>
          </a:p>
          <a:p>
            <a:r>
              <a:rPr lang="en-US" sz="2000" dirty="0"/>
              <a:t>    </a:t>
            </a:r>
            <a:r>
              <a:rPr sz="2000" dirty="0"/>
              <a:t>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28800"/>
            <a:ext cx="22860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Standardized</a:t>
            </a:r>
          </a:p>
          <a:p>
            <a:r>
              <a:t>Python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828800"/>
            <a:ext cx="22860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Security</a:t>
            </a:r>
          </a:p>
          <a:p>
            <a:r>
              <a:t>Integrated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22860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3-Step</a:t>
            </a:r>
          </a:p>
          <a:p>
            <a:r>
              <a:t>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4572000"/>
            <a:ext cx="22860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Automated</a:t>
            </a:r>
          </a:p>
          <a:p>
            <a:r>
              <a:t>Reporting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Technical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828800" y="1828800"/>
            <a:ext cx="54864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User Interface Layer</a:t>
            </a:r>
          </a:p>
          <a:p>
            <a:pPr>
              <a:defRPr sz="1400"/>
            </a:pPr>
            <a:r>
              <a:t>Visual GUI (PyQt6) - No CLI commands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926080"/>
            <a:ext cx="5486400" cy="914400"/>
          </a:xfrm>
          <a:prstGeom prst="round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Business Logic Layer</a:t>
            </a:r>
          </a:p>
          <a:p>
            <a:pPr>
              <a:defRPr sz="1400"/>
            </a:pPr>
            <a:r>
              <a:t>Python 3.9 Automation Engine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4023360"/>
            <a:ext cx="5486400" cy="914400"/>
          </a:xfrm>
          <a:prstGeom prst="roundRect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Driver Layer</a:t>
            </a:r>
          </a:p>
          <a:p>
            <a:pPr>
              <a:defRPr sz="1400"/>
            </a:pPr>
            <a:r>
              <a:t>OracleDB Thick Client (Secure Connection)</a:t>
            </a:r>
          </a:p>
        </p:txBody>
      </p:sp>
      <p:sp>
        <p:nvSpPr>
          <p:cNvPr id="6" name="Can 5"/>
          <p:cNvSpPr/>
          <p:nvPr/>
        </p:nvSpPr>
        <p:spPr>
          <a:xfrm>
            <a:off x="1828800" y="5120640"/>
            <a:ext cx="5486400" cy="914400"/>
          </a:xfrm>
          <a:prstGeom prst="can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 Layer</a:t>
            </a:r>
          </a:p>
          <a:p>
            <a:pPr>
              <a:defRPr sz="1400"/>
            </a:pPr>
            <a:r>
              <a:t>Oracle 19c / 21c / 23ai Databases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Security &amp; Compliance Framework</a:t>
            </a:r>
          </a:p>
        </p:txBody>
      </p:sp>
      <p:sp>
        <p:nvSpPr>
          <p:cNvPr id="3" name="Hexagon 2"/>
          <p:cNvSpPr/>
          <p:nvPr/>
        </p:nvSpPr>
        <p:spPr>
          <a:xfrm>
            <a:off x="436728" y="2743200"/>
            <a:ext cx="2763672" cy="2743200"/>
          </a:xfrm>
          <a:prstGeom prst="hexagon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rPr lang="en-US" dirty="0"/>
              <a:t>   </a:t>
            </a:r>
            <a:r>
              <a:rPr dirty="0"/>
              <a:t>BANKGRADE</a:t>
            </a:r>
          </a:p>
          <a:p>
            <a:r>
              <a:rPr lang="en-US" dirty="0"/>
              <a:t>      </a:t>
            </a:r>
            <a:r>
              <a:rPr b="1" dirty="0">
                <a:solidFill>
                  <a:schemeClr val="bg1"/>
                </a:solidFill>
              </a:rPr>
              <a:t>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286000"/>
            <a:ext cx="4788490" cy="39395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200" b="1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Authentication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dirty="0">
                <a:solidFill>
                  <a:schemeClr val="tx2"/>
                </a:solidFill>
              </a:rPr>
              <a:t>Uses Windows SSO / OS Authentication</a:t>
            </a:r>
            <a:br>
              <a:rPr dirty="0">
                <a:solidFill>
                  <a:schemeClr val="tx2"/>
                </a:solidFill>
              </a:rPr>
            </a:br>
            <a:endParaRPr dirty="0">
              <a:solidFill>
                <a:schemeClr val="tx2"/>
              </a:solidFill>
            </a:endParaRPr>
          </a:p>
          <a:p>
            <a:pPr>
              <a:defRPr sz="2200" b="1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Credentials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dirty="0">
                <a:solidFill>
                  <a:schemeClr val="tx2"/>
                </a:solidFill>
              </a:rPr>
              <a:t>Supports Oracle Wallet (No plain-text passwords)</a:t>
            </a:r>
            <a:br>
              <a:rPr dirty="0">
                <a:solidFill>
                  <a:schemeClr val="tx2"/>
                </a:solidFill>
              </a:rPr>
            </a:br>
            <a:endParaRPr dirty="0">
              <a:solidFill>
                <a:schemeClr val="tx2"/>
              </a:solidFill>
            </a:endParaRPr>
          </a:p>
          <a:p>
            <a:pPr>
              <a:defRPr sz="2200" b="1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Encryption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dirty="0">
                <a:solidFill>
                  <a:schemeClr val="tx2"/>
                </a:solidFill>
              </a:rPr>
              <a:t>Auto-detects TDE (Transparent Data Encryption)</a:t>
            </a:r>
            <a:br>
              <a:rPr dirty="0">
                <a:solidFill>
                  <a:schemeClr val="tx2"/>
                </a:solidFill>
              </a:rPr>
            </a:br>
            <a:endParaRPr dirty="0">
              <a:solidFill>
                <a:schemeClr val="tx2"/>
              </a:solidFill>
            </a:endParaRPr>
          </a:p>
          <a:p>
            <a:pPr>
              <a:defRPr sz="2200" b="1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Access Control</a:t>
            </a:r>
          </a:p>
          <a:p>
            <a:pPr>
              <a:defRPr sz="1800">
                <a:solidFill>
                  <a:srgbClr val="404040"/>
                </a:solidFill>
              </a:defRPr>
            </a:pPr>
            <a:r>
              <a:rPr dirty="0">
                <a:solidFill>
                  <a:schemeClr val="tx2"/>
                </a:solidFill>
              </a:rPr>
              <a:t>Validates DBA privileges before execution</a:t>
            </a: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The 'Intelligent Engine'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200400"/>
            <a:ext cx="1371600" cy="914400"/>
          </a:xfrm>
          <a:prstGeom prst="roundRect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Start</a:t>
            </a:r>
          </a:p>
          <a:p>
            <a:r>
              <a:t>Process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86000" y="3474720"/>
            <a:ext cx="914400" cy="365760"/>
          </a:xfrm>
          <a:prstGeom prst="rightArrow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Diamond 4"/>
          <p:cNvSpPr/>
          <p:nvPr/>
        </p:nvSpPr>
        <p:spPr>
          <a:xfrm>
            <a:off x="3200400" y="2286000"/>
            <a:ext cx="2286000" cy="2743200"/>
          </a:xfrm>
          <a:prstGeom prst="diamond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FFFFFF"/>
                </a:solidFill>
              </a:defRPr>
            </a:pPr>
            <a:r>
              <a:t>Check</a:t>
            </a:r>
          </a:p>
          <a:p>
            <a:r>
              <a:t>Environment?</a:t>
            </a:r>
          </a:p>
        </p:txBody>
      </p:sp>
      <p:sp>
        <p:nvSpPr>
          <p:cNvPr id="6" name="Right Arrow 5"/>
          <p:cNvSpPr/>
          <p:nvPr/>
        </p:nvSpPr>
        <p:spPr>
          <a:xfrm rot="19800000">
            <a:off x="5486400" y="2743200"/>
            <a:ext cx="914400" cy="365760"/>
          </a:xfrm>
          <a:prstGeom prst="rightArrow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00800" y="1828800"/>
            <a:ext cx="2286000" cy="914400"/>
          </a:xfrm>
          <a:prstGeom prst="rect">
            <a:avLst/>
          </a:prstGeom>
          <a:solidFill>
            <a:srgbClr val="C0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PROD MODE</a:t>
            </a:r>
          </a:p>
          <a:p>
            <a:r>
              <a:t>(Full Audit &amp; Delay)</a:t>
            </a:r>
          </a:p>
        </p:txBody>
      </p:sp>
      <p:sp>
        <p:nvSpPr>
          <p:cNvPr id="8" name="Right Arrow 7"/>
          <p:cNvSpPr/>
          <p:nvPr/>
        </p:nvSpPr>
        <p:spPr>
          <a:xfrm rot="1800000">
            <a:off x="5486400" y="4114800"/>
            <a:ext cx="914400" cy="365760"/>
          </a:xfrm>
          <a:prstGeom prst="rightArrow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4572000"/>
            <a:ext cx="2286000" cy="914400"/>
          </a:xfrm>
          <a:prstGeom prst="rect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DEV MODE</a:t>
            </a:r>
          </a:p>
          <a:p>
            <a:r>
              <a:t>(Fast Clone)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Step 1: Deep Validation (Pre-Check)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4648708" cy="40626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solidFill>
                <a:schemeClr val="tx2"/>
              </a:solidFill>
            </a:endParaRPr>
          </a:p>
          <a:p>
            <a:pPr>
              <a:spcAft>
                <a:spcPts val="3000"/>
              </a:spcAft>
              <a:defRPr sz="2800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✅ Storage Space Check</a:t>
            </a:r>
          </a:p>
          <a:p>
            <a:pPr>
              <a:spcAft>
                <a:spcPts val="3000"/>
              </a:spcAft>
              <a:defRPr sz="2800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✅ Database Version Match</a:t>
            </a:r>
          </a:p>
          <a:p>
            <a:pPr>
              <a:spcAft>
                <a:spcPts val="3000"/>
              </a:spcAft>
              <a:defRPr sz="2800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✅ Character Set Compatibility</a:t>
            </a:r>
          </a:p>
          <a:p>
            <a:pPr>
              <a:spcAft>
                <a:spcPts val="3000"/>
              </a:spcAft>
              <a:defRPr sz="2800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✅ Encryption Key (TDE) Status</a:t>
            </a:r>
          </a:p>
          <a:p>
            <a:pPr>
              <a:spcAft>
                <a:spcPts val="3000"/>
              </a:spcAft>
              <a:defRPr sz="2800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✅ Filename Conflict Check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0" y="2743200"/>
            <a:ext cx="3200400" cy="1828800"/>
          </a:xfrm>
          <a:prstGeom prst="roundRect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>
                <a:solidFill>
                  <a:srgbClr val="002060"/>
                </a:solidFill>
              </a:defRPr>
            </a:pPr>
            <a:r>
              <a:t>If ANY check fails,</a:t>
            </a:r>
          </a:p>
          <a:p>
            <a:r>
              <a:t>the process STOPS.</a:t>
            </a:r>
          </a:p>
          <a:p>
            <a:endParaRPr/>
          </a:p>
          <a:p>
            <a:r>
              <a:t>No broken databases.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Step 2: Automated Execution</a:t>
            </a:r>
          </a:p>
        </p:txBody>
      </p:sp>
      <p:sp>
        <p:nvSpPr>
          <p:cNvPr id="3" name="Can 2"/>
          <p:cNvSpPr/>
          <p:nvPr/>
        </p:nvSpPr>
        <p:spPr>
          <a:xfrm>
            <a:off x="914400" y="2743200"/>
            <a:ext cx="1828800" cy="2286000"/>
          </a:xfrm>
          <a:prstGeom prst="can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SOURCE</a:t>
            </a:r>
          </a:p>
          <a:p>
            <a:r>
              <a:t>(Production)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200400" y="3657600"/>
            <a:ext cx="2743200" cy="457200"/>
          </a:xfrm>
          <a:prstGeom prst="rightArrow">
            <a:avLst/>
          </a:prstGeom>
          <a:solidFill>
            <a:srgbClr val="40404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DB Link &amp; File Transfer</a:t>
            </a:r>
          </a:p>
        </p:txBody>
      </p:sp>
      <p:sp>
        <p:nvSpPr>
          <p:cNvPr id="5" name="Can 4"/>
          <p:cNvSpPr/>
          <p:nvPr/>
        </p:nvSpPr>
        <p:spPr>
          <a:xfrm>
            <a:off x="6400800" y="2743200"/>
            <a:ext cx="1828800" cy="2286000"/>
          </a:xfrm>
          <a:prstGeom prst="can">
            <a:avLst/>
          </a:prstGeom>
          <a:solidFill>
            <a:srgbClr val="0070C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TARGET</a:t>
            </a:r>
          </a:p>
          <a:p>
            <a:r>
              <a:t>(Dev/Test)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86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Automation handles: Passwords, File Conversions, and Linking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Step 3: 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0" y="2286000"/>
            <a:ext cx="5486400" cy="365760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002060"/>
                </a:solidFill>
              </a:defRPr>
            </a:pPr>
            <a:r>
              <a:t>Post-Clone Integrity Check</a:t>
            </a:r>
          </a:p>
          <a:p>
            <a:pPr>
              <a:spcBef>
                <a:spcPts val="2000"/>
              </a:spcBef>
              <a:defRPr sz="2000">
                <a:solidFill>
                  <a:srgbClr val="404040"/>
                </a:solidFill>
              </a:defRPr>
            </a:pPr>
            <a:r>
              <a:t>1. Open Mode: READ WRITE?</a:t>
            </a:r>
          </a:p>
          <a:p>
            <a:pPr>
              <a:spcBef>
                <a:spcPts val="2000"/>
              </a:spcBef>
              <a:defRPr sz="2000">
                <a:solidFill>
                  <a:srgbClr val="404040"/>
                </a:solidFill>
              </a:defRPr>
            </a:pPr>
            <a:r>
              <a:t>2. Object Count: MATCH SOURCE?</a:t>
            </a:r>
          </a:p>
          <a:p>
            <a:pPr>
              <a:spcBef>
                <a:spcPts val="2000"/>
              </a:spcBef>
              <a:defRPr sz="2000">
                <a:solidFill>
                  <a:srgbClr val="404040"/>
                </a:solidFill>
              </a:defRPr>
            </a:pPr>
            <a:r>
              <a:t>3. Invalid Objects: ZERO?</a:t>
            </a:r>
          </a:p>
          <a:p>
            <a:pPr>
              <a:spcBef>
                <a:spcPts val="2000"/>
              </a:spcBef>
              <a:defRPr sz="2000">
                <a:solidFill>
                  <a:srgbClr val="404040"/>
                </a:solidFill>
              </a:defRPr>
            </a:pPr>
            <a:r>
              <a:t>4. TDE Wallet: OPEN?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Audit &amp; Compliance Reporting</a:t>
            </a:r>
          </a:p>
        </p:txBody>
      </p:sp>
      <p:sp>
        <p:nvSpPr>
          <p:cNvPr id="3" name="Folded Corner 2"/>
          <p:cNvSpPr/>
          <p:nvPr/>
        </p:nvSpPr>
        <p:spPr>
          <a:xfrm>
            <a:off x="1371600" y="2286000"/>
            <a:ext cx="2743200" cy="3657600"/>
          </a:xfrm>
          <a:prstGeom prst="foldedCorner">
            <a:avLst/>
          </a:prstGeom>
          <a:solidFill>
            <a:srgbClr val="FFFFFF"/>
          </a:solidFill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>
                <a:solidFill>
                  <a:srgbClr val="404040"/>
                </a:solidFill>
              </a:defRPr>
            </a:pPr>
            <a:r>
              <a:t>CLONE REPORT</a:t>
            </a:r>
          </a:p>
          <a:p>
            <a:r>
              <a:t>ID: 99281</a:t>
            </a:r>
          </a:p>
          <a:p>
            <a:endParaRPr/>
          </a:p>
          <a:p>
            <a:r>
              <a:t>User: admin</a:t>
            </a:r>
          </a:p>
          <a:p>
            <a:r>
              <a:t>Date: 2023-10-12</a:t>
            </a:r>
          </a:p>
          <a:p>
            <a:endParaRPr/>
          </a:p>
          <a:p>
            <a:r>
              <a:t>Validation: PASS</a:t>
            </a:r>
          </a:p>
          <a:p>
            <a:r>
              <a:t>Execution: PASS</a:t>
            </a:r>
          </a:p>
          <a:p>
            <a:r>
              <a:t>Verification: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2286000"/>
            <a:ext cx="3259097" cy="26776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060"/>
                </a:solidFill>
              </a:defRPr>
            </a:pPr>
            <a:r>
              <a:rPr dirty="0">
                <a:solidFill>
                  <a:schemeClr val="tx2"/>
                </a:solidFill>
              </a:rPr>
              <a:t>Why Auditors Love This:</a:t>
            </a:r>
          </a:p>
          <a:p>
            <a:br>
              <a:rPr dirty="0">
                <a:solidFill>
                  <a:schemeClr val="tx2"/>
                </a:solidFill>
              </a:rPr>
            </a:br>
            <a:r>
              <a:rPr dirty="0"/>
              <a:t>• Generated for EVERY run</a:t>
            </a:r>
          </a:p>
          <a:p>
            <a:br>
              <a:rPr dirty="0"/>
            </a:br>
            <a:r>
              <a:rPr dirty="0"/>
              <a:t>• Logs Who, When, What</a:t>
            </a:r>
          </a:p>
          <a:p>
            <a:br>
              <a:rPr dirty="0"/>
            </a:br>
            <a:r>
              <a:rPr dirty="0"/>
              <a:t>• PDF / HTML Format</a:t>
            </a:r>
          </a:p>
          <a:p>
            <a:br>
              <a:rPr dirty="0"/>
            </a:br>
            <a:r>
              <a:rPr dirty="0"/>
              <a:t>• Immutable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Bonus: Health Checks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743200"/>
            <a:ext cx="2560320" cy="2743200"/>
          </a:xfrm>
          <a:prstGeom prst="roundRect">
            <a:avLst/>
          </a:prstGeom>
          <a:solidFill>
            <a:srgbClr val="00968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Performance</a:t>
            </a:r>
          </a:p>
          <a:p>
            <a:br/>
            <a:r>
              <a:t>Detect CPU Spikes</a:t>
            </a:r>
            <a:br/>
            <a:r>
              <a:t>&amp; Slow Queries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2743200"/>
            <a:ext cx="2560320" cy="2743200"/>
          </a:xfrm>
          <a:prstGeom prst="roundRect">
            <a:avLst/>
          </a:prstGeom>
          <a:solidFill>
            <a:srgbClr val="FF572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Storage</a:t>
            </a:r>
          </a:p>
          <a:p>
            <a:br/>
            <a:r>
              <a:t>Predict Full Disks</a:t>
            </a:r>
            <a:br/>
            <a:r>
              <a:t>Before Outage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2743200"/>
            <a:ext cx="2560320" cy="2743200"/>
          </a:xfrm>
          <a:prstGeom prst="roundRect">
            <a:avLst/>
          </a:prstGeom>
          <a:solidFill>
            <a:srgbClr val="673AB7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/>
            </a:pPr>
            <a:r>
              <a:t>Alert Log</a:t>
            </a:r>
          </a:p>
          <a:p>
            <a:br/>
            <a:r>
              <a:t>Scan for Critical</a:t>
            </a:r>
            <a:br/>
            <a:r>
              <a:t>ORA- Errors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Business Impact &amp; ROI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2286000"/>
            <a:ext cx="7315200" cy="109728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002060"/>
                </a:solidFill>
              </a:defRPr>
            </a:pPr>
            <a:r>
              <a:t>90%      Reduction in Cloning Time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7315200" cy="109728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002060"/>
                </a:solidFill>
              </a:defRPr>
            </a:pPr>
            <a:r>
              <a:t>100%      Compliance Audit Pass Rate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5029200"/>
            <a:ext cx="7315200" cy="1097280"/>
          </a:xfrm>
          <a:prstGeom prst="rect">
            <a:avLst/>
          </a:prstGeom>
          <a:solidFill>
            <a:srgbClr val="F2F2F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3200" b="1">
                <a:solidFill>
                  <a:srgbClr val="002060"/>
                </a:solidFill>
              </a:defRPr>
            </a:pPr>
            <a:r>
              <a:t>$0      Additional Licensing Costs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0" rtlCol="0" anchor="ctr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Implementation Roadmap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3657600"/>
            <a:ext cx="7315200" cy="91440"/>
          </a:xfrm>
          <a:prstGeom prst="rect">
            <a:avLst/>
          </a:prstGeom>
          <a:solidFill>
            <a:srgbClr val="00206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14400" y="3474720"/>
            <a:ext cx="457200" cy="4572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Week 1:</a:t>
            </a:r>
            <a:br/>
            <a:r>
              <a:t>Security Review</a:t>
            </a:r>
          </a:p>
        </p:txBody>
      </p:sp>
      <p:sp>
        <p:nvSpPr>
          <p:cNvPr id="6" name="Oval 5"/>
          <p:cNvSpPr/>
          <p:nvPr/>
        </p:nvSpPr>
        <p:spPr>
          <a:xfrm>
            <a:off x="3017520" y="3474720"/>
            <a:ext cx="457200" cy="4572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0" y="4114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Week 2:</a:t>
            </a:r>
            <a:br/>
            <a:r>
              <a:t>Pilot on Dev</a:t>
            </a:r>
          </a:p>
        </p:txBody>
      </p:sp>
      <p:sp>
        <p:nvSpPr>
          <p:cNvPr id="8" name="Oval 7"/>
          <p:cNvSpPr/>
          <p:nvPr/>
        </p:nvSpPr>
        <p:spPr>
          <a:xfrm>
            <a:off x="5120640" y="3474720"/>
            <a:ext cx="457200" cy="4572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63440" y="4114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Week 3:</a:t>
            </a:r>
            <a:br/>
            <a:r>
              <a:t>UAT</a:t>
            </a:r>
          </a:p>
        </p:txBody>
      </p:sp>
      <p:sp>
        <p:nvSpPr>
          <p:cNvPr id="10" name="Oval 9"/>
          <p:cNvSpPr/>
          <p:nvPr/>
        </p:nvSpPr>
        <p:spPr>
          <a:xfrm>
            <a:off x="7223760" y="3474720"/>
            <a:ext cx="457200" cy="457200"/>
          </a:xfrm>
          <a:prstGeom prst="ellipse">
            <a:avLst/>
          </a:prstGeom>
          <a:solidFill>
            <a:srgbClr val="FFC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66560" y="4114800"/>
            <a:ext cx="1828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Week 4:</a:t>
            </a:r>
            <a:br/>
            <a:r>
              <a:t>Rollout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7</TotalTime>
  <Words>1594</Words>
  <Application>Microsoft Macintosh PowerPoint</Application>
  <PresentationFormat>On-screen Show (4:3)</PresentationFormat>
  <Paragraphs>273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Chen, Yongmei {GNAE~SOUTH SAN FRANCISCO}</cp:lastModifiedBy>
  <cp:revision>2</cp:revision>
  <dcterms:created xsi:type="dcterms:W3CDTF">2013-01-27T09:14:16Z</dcterms:created>
  <dcterms:modified xsi:type="dcterms:W3CDTF">2026-02-17T01:39:47Z</dcterms:modified>
  <cp:category/>
</cp:coreProperties>
</file>