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65" r:id="rId6"/>
    <p:sldId id="266" r:id="rId7"/>
    <p:sldId id="261" r:id="rId8"/>
    <p:sldId id="267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0890"/>
  </p:normalViewPr>
  <p:slideViewPr>
    <p:cSldViewPr snapToGrid="0" snapToObjects="1">
      <p:cViewPr varScale="1">
        <p:scale>
          <a:sx n="88" d="100"/>
          <a:sy n="88" d="100"/>
        </p:scale>
        <p:origin x="2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393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morning.</a:t>
            </a:r>
          </a:p>
          <a:p>
            <a:endParaRPr/>
          </a:p>
          <a:p>
            <a:r>
              <a:t>As we approach our Data Center Exit, the volume of database migrations is increasing. Speed is important, but safety is critical.</a:t>
            </a:r>
          </a:p>
          <a:p>
            <a:endParaRPr/>
          </a:p>
          <a:p>
            <a:r>
              <a:t>Today, I will show you how we are moving from a manual, error-prone process to an Automated Validation workflow. Our focus is on the rigorous Pre-Checks and Post-Checks that ensure every PDB clone is valid before applications are allowed to connect.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Currently, we migrate PDBs using manual scripts. This presents serious risks during a mass migration:</a:t>
            </a:r>
          </a:p>
          <a:p>
            <a:endParaRPr/>
          </a:p>
          <a:p>
            <a:r>
              <a:t>1. It is Slow: Diagnosing errors in text logs takes time.</a:t>
            </a:r>
          </a:p>
          <a:p>
            <a:r>
              <a:t>2. It is Risky: DBAs working late shifts can miss critical warnings buried in 200 lines of output.</a:t>
            </a:r>
          </a:p>
          <a:p>
            <a:r>
              <a:t>3. It is Blind: We often don't know a migration failed until the App Team tries to connect and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solution is to wrap the migration in a strict, automated 3-step process.</a:t>
            </a:r>
          </a:p>
          <a:p>
            <a:endParaRPr/>
          </a:p>
          <a:p>
            <a:r>
              <a:t>Step 1 is the Pre-Check. We validate everything BEFORE we touch the database.</a:t>
            </a:r>
          </a:p>
          <a:p>
            <a:r>
              <a:t>Step 2 is the Execution. The tool handles the file transfer automatically.</a:t>
            </a:r>
          </a:p>
          <a:p>
            <a:r>
              <a:t>Step 3 is the Post-Check. We verify the PDB is healthy before handing it over.</a:t>
            </a:r>
          </a:p>
          <a:p>
            <a:endParaRPr/>
          </a:p>
          <a:p>
            <a:r>
              <a:t>This standardization ensures every migration follows the exact same safety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POINTS - Step 1: Pre-Check Validation:</a:t>
            </a:r>
          </a:p>
          <a:p>
            <a:endParaRPr/>
          </a:p>
          <a:p>
            <a:r>
              <a:t>• The Pre-Check is your safety net before cloning</a:t>
            </a:r>
          </a:p>
          <a:p>
            <a:endParaRPr/>
          </a:p>
          <a:p>
            <a:r>
              <a:t>• SIX AUTOMATED VALIDATIONS:</a:t>
            </a:r>
          </a:p>
          <a:p>
            <a:endParaRPr/>
          </a:p>
          <a:p>
            <a:r>
              <a:t>1. Database Version:</a:t>
            </a:r>
          </a:p>
          <a:p>
            <a:r>
              <a:t>   - Ensures source and target are same Oracle version</a:t>
            </a:r>
          </a:p>
          <a:p>
            <a:r>
              <a:t>   - Version mismatch = clone will fail</a:t>
            </a:r>
          </a:p>
          <a:p>
            <a:r>
              <a:t>   - We catch this BEFORE wasting time</a:t>
            </a:r>
          </a:p>
          <a:p>
            <a:endParaRPr/>
          </a:p>
          <a:p>
            <a:r>
              <a:t>2. Character Set:</a:t>
            </a:r>
          </a:p>
          <a:p>
            <a:r>
              <a:t>   - Confirms text encoding matches (UTF8, etc.)</a:t>
            </a:r>
          </a:p>
          <a:p>
            <a:r>
              <a:t>   - Different charsets = data corruption risk</a:t>
            </a:r>
          </a:p>
          <a:p>
            <a:r>
              <a:t>   - Critical for international data</a:t>
            </a:r>
          </a:p>
          <a:p>
            <a:endParaRPr/>
          </a:p>
          <a:p>
            <a:r>
              <a:t>3. Storage Space:</a:t>
            </a:r>
          </a:p>
          <a:p>
            <a:r>
              <a:t>   - Verifies target has enough disk space</a:t>
            </a:r>
          </a:p>
          <a:p>
            <a:r>
              <a:t>   - Checks current database size vs available space</a:t>
            </a:r>
          </a:p>
          <a:p>
            <a:r>
              <a:t>   - Prevents "out of space" failures mid-clone</a:t>
            </a:r>
          </a:p>
          <a:p>
            <a:endParaRPr/>
          </a:p>
          <a:p>
            <a:r>
              <a:t>4. Security (TDE):</a:t>
            </a:r>
          </a:p>
          <a:p>
            <a:r>
              <a:t>   - Checks encryption settings match</a:t>
            </a:r>
          </a:p>
          <a:p>
            <a:r>
              <a:t>   - Transparent Data Encryption must align</a:t>
            </a:r>
          </a:p>
          <a:p>
            <a:r>
              <a:t>   - Security compliance requirement</a:t>
            </a:r>
          </a:p>
          <a:p>
            <a:endParaRPr/>
          </a:p>
          <a:p>
            <a:r>
              <a:t>5. Timezone:</a:t>
            </a:r>
          </a:p>
          <a:p>
            <a:r>
              <a:t>   - Confirms time settings are aligned</a:t>
            </a:r>
          </a:p>
          <a:p>
            <a:r>
              <a:t>   - Important for timestamp data integrity</a:t>
            </a:r>
          </a:p>
          <a:p>
            <a:r>
              <a:t>   - Prevents scheduling issues</a:t>
            </a:r>
          </a:p>
          <a:p>
            <a:endParaRPr/>
          </a:p>
          <a:p>
            <a:r>
              <a:t>6. Configuration:</a:t>
            </a:r>
          </a:p>
          <a:p>
            <a:r>
              <a:t>   - Compares database parameters</a:t>
            </a:r>
          </a:p>
          <a:p>
            <a:r>
              <a:t>   - Identifies potential conflicts</a:t>
            </a:r>
          </a:p>
          <a:p>
            <a:r>
              <a:t>   - Ensures compatibility</a:t>
            </a:r>
          </a:p>
          <a:p>
            <a:endParaRPr/>
          </a:p>
          <a:p>
            <a:r>
              <a:t>• OUTPUT: HTML Pre-Check Report with PASS/FAIL for each validation</a:t>
            </a:r>
          </a:p>
          <a:p>
            <a:r>
              <a:t>  - Green checkmarks = safe to proceed</a:t>
            </a:r>
          </a:p>
          <a:p>
            <a:r>
              <a:t>  - Red X marks = must resolve before cloning</a:t>
            </a:r>
          </a:p>
          <a:p>
            <a:r>
              <a:t>  - Specific guidance provided for failures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TALK POINTS - Step 2: Clone Execution:</a:t>
            </a:r>
          </a:p>
          <a:p>
            <a:endParaRPr dirty="0"/>
          </a:p>
          <a:p>
            <a:r>
              <a:rPr dirty="0"/>
              <a:t>• This is where the actual database copy happens</a:t>
            </a:r>
          </a:p>
          <a:p>
            <a:endParaRPr dirty="0"/>
          </a:p>
          <a:p>
            <a:r>
              <a:rPr dirty="0"/>
              <a:t>• AUTOMATED PROCESS FLOW:</a:t>
            </a:r>
          </a:p>
          <a:p>
            <a:endParaRPr dirty="0"/>
          </a:p>
          <a:p>
            <a:r>
              <a:rPr dirty="0"/>
              <a:t>  SOURCE DATABASE (Production)</a:t>
            </a:r>
          </a:p>
          <a:p>
            <a:r>
              <a:rPr dirty="0"/>
              <a:t>      ↓</a:t>
            </a:r>
          </a:p>
          <a:p>
            <a:r>
              <a:rPr dirty="0"/>
              <a:t>  CLONE PROCESS</a:t>
            </a:r>
          </a:p>
          <a:p>
            <a:r>
              <a:rPr dirty="0"/>
              <a:t>      ↓</a:t>
            </a:r>
          </a:p>
          <a:p>
            <a:r>
              <a:rPr dirty="0"/>
              <a:t>  TARGET DATABASE (Dev/Test)</a:t>
            </a:r>
          </a:p>
          <a:p>
            <a:endParaRPr dirty="0"/>
          </a:p>
          <a:p>
            <a:r>
              <a:rPr dirty="0"/>
              <a:t>• FOUR AUTOMATIC STEPS:</a:t>
            </a:r>
          </a:p>
          <a:p>
            <a:endParaRPr dirty="0"/>
          </a:p>
          <a:p>
            <a:r>
              <a:rPr dirty="0"/>
              <a:t>1. Create Database Link:</a:t>
            </a:r>
          </a:p>
          <a:p>
            <a:r>
              <a:rPr dirty="0"/>
              <a:t>   - Establishes secure connection between source and target</a:t>
            </a:r>
          </a:p>
          <a:p>
            <a:r>
              <a:rPr dirty="0"/>
              <a:t>   - Uses external authentication (no passwords in scripts)</a:t>
            </a:r>
          </a:p>
          <a:p>
            <a:r>
              <a:rPr dirty="0"/>
              <a:t>   - Connection verified before proceeding</a:t>
            </a:r>
          </a:p>
          <a:p>
            <a:endParaRPr dirty="0"/>
          </a:p>
          <a:p>
            <a:r>
              <a:rPr dirty="0"/>
              <a:t>2. Execute Clone Command:</a:t>
            </a:r>
          </a:p>
          <a:p>
            <a:r>
              <a:rPr dirty="0"/>
              <a:t>   - Uses Oracle's native PDB clone capability</a:t>
            </a:r>
          </a:p>
          <a:p>
            <a:r>
              <a:rPr dirty="0"/>
              <a:t>   - Efficient block-level copy</a:t>
            </a:r>
          </a:p>
          <a:p>
            <a:r>
              <a:rPr dirty="0"/>
              <a:t>   - Progress tracked in real-time</a:t>
            </a:r>
          </a:p>
          <a:p>
            <a:endParaRPr dirty="0"/>
          </a:p>
          <a:p>
            <a:r>
              <a:rPr dirty="0"/>
              <a:t>3. Open New Database:</a:t>
            </a:r>
          </a:p>
          <a:p>
            <a:r>
              <a:rPr dirty="0"/>
              <a:t>   - New PDB is opened for use</a:t>
            </a:r>
          </a:p>
          <a:p>
            <a:r>
              <a:rPr dirty="0"/>
              <a:t>   - Services are started automatically</a:t>
            </a:r>
          </a:p>
          <a:p>
            <a:r>
              <a:rPr dirty="0"/>
              <a:t>   - Connection testing performed</a:t>
            </a:r>
          </a:p>
          <a:p>
            <a:endParaRPr dirty="0"/>
          </a:p>
          <a:p>
            <a:r>
              <a:rPr dirty="0"/>
              <a:t>4. Save State:</a:t>
            </a:r>
          </a:p>
          <a:p>
            <a:r>
              <a:rPr dirty="0"/>
              <a:t>   - Ensures database survives restarts</a:t>
            </a:r>
          </a:p>
          <a:p>
            <a:r>
              <a:rPr dirty="0"/>
              <a:t>   - Configuration persisted</a:t>
            </a:r>
          </a:p>
          <a:p>
            <a:r>
              <a:rPr dirty="0"/>
              <a:t>   - Ready for immediate use</a:t>
            </a:r>
          </a:p>
          <a:p>
            <a:endParaRPr dirty="0"/>
          </a:p>
          <a:p>
            <a:r>
              <a:rPr dirty="0"/>
              <a:t>• REAL-TIME PROGRESS:</a:t>
            </a:r>
          </a:p>
          <a:p>
            <a:r>
              <a:rPr dirty="0"/>
              <a:t>  - The GUI shows exactly what's happening</a:t>
            </a:r>
          </a:p>
          <a:p>
            <a:r>
              <a:rPr dirty="0"/>
              <a:t>  - Percentage complete indicator</a:t>
            </a:r>
          </a:p>
          <a:p>
            <a:r>
              <a:rPr dirty="0"/>
              <a:t>  - Estimated time remaining</a:t>
            </a:r>
          </a:p>
          <a:p>
            <a:r>
              <a:rPr dirty="0"/>
              <a:t>  - No guesswork for the operator</a:t>
            </a:r>
          </a:p>
          <a:p>
            <a:endParaRPr dirty="0"/>
          </a:p>
          <a:p>
            <a:r>
              <a:rPr dirty="0"/>
              <a:t>• OUTPUT: New database created, opened, and ready for use!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TALK POINTS - Step 3: Post-Check Verification:</a:t>
            </a:r>
          </a:p>
          <a:p>
            <a:endParaRPr dirty="0"/>
          </a:p>
          <a:p>
            <a:r>
              <a:rPr dirty="0"/>
              <a:t>• The Post-Check confirms your clone is perfect</a:t>
            </a:r>
          </a:p>
          <a:p>
            <a:endParaRPr dirty="0"/>
          </a:p>
          <a:p>
            <a:r>
              <a:rPr dirty="0"/>
              <a:t>• AUTOMATIC COMPARISON:</a:t>
            </a:r>
          </a:p>
          <a:p>
            <a:endParaRPr dirty="0"/>
          </a:p>
          <a:p>
            <a:r>
              <a:rPr dirty="0"/>
              <a:t>  SOURCE (Original)     =     TARGET (New Copy)</a:t>
            </a:r>
          </a:p>
          <a:p>
            <a:endParaRPr dirty="0"/>
          </a:p>
          <a:p>
            <a:r>
              <a:rPr dirty="0"/>
              <a:t>• WHAT WE VERIFY:</a:t>
            </a:r>
          </a:p>
          <a:p>
            <a:endParaRPr dirty="0"/>
          </a:p>
          <a:p>
            <a:r>
              <a:rPr dirty="0"/>
              <a:t>1. Database Size:</a:t>
            </a:r>
          </a:p>
          <a:p>
            <a:r>
              <a:rPr dirty="0"/>
              <a:t>   - Should match exactly (or within expected variance)</a:t>
            </a:r>
          </a:p>
          <a:p>
            <a:r>
              <a:rPr dirty="0"/>
              <a:t>   - Example: 45.73 GB → 45.73 GB ✓</a:t>
            </a:r>
          </a:p>
          <a:p>
            <a:endParaRPr dirty="0"/>
          </a:p>
          <a:p>
            <a:r>
              <a:rPr dirty="0"/>
              <a:t>2. Parameters:</a:t>
            </a:r>
          </a:p>
          <a:p>
            <a:r>
              <a:rPr dirty="0"/>
              <a:t>   - All 127 custom parameters compared</a:t>
            </a:r>
          </a:p>
          <a:p>
            <a:r>
              <a:rPr dirty="0"/>
              <a:t>   - Any differences flagged for review</a:t>
            </a:r>
          </a:p>
          <a:p>
            <a:r>
              <a:rPr dirty="0"/>
              <a:t>   - Ensures identical configuration</a:t>
            </a:r>
          </a:p>
          <a:p>
            <a:endParaRPr dirty="0"/>
          </a:p>
          <a:p>
            <a:r>
              <a:rPr dirty="0"/>
              <a:t>3. Services:</a:t>
            </a:r>
          </a:p>
          <a:p>
            <a:r>
              <a:rPr dirty="0"/>
              <a:t>   - All database services checked</a:t>
            </a:r>
          </a:p>
          <a:p>
            <a:r>
              <a:rPr dirty="0"/>
              <a:t>   - Confirms they started correctly</a:t>
            </a:r>
          </a:p>
          <a:p>
            <a:r>
              <a:rPr dirty="0"/>
              <a:t>   - Ready for application connections</a:t>
            </a:r>
          </a:p>
          <a:p>
            <a:endParaRPr dirty="0"/>
          </a:p>
          <a:p>
            <a:r>
              <a:rPr dirty="0"/>
              <a:t>4. Status:</a:t>
            </a:r>
          </a:p>
          <a:p>
            <a:r>
              <a:rPr dirty="0"/>
              <a:t>   - READ WRITE mode verified</a:t>
            </a:r>
          </a:p>
          <a:p>
            <a:r>
              <a:rPr dirty="0"/>
              <a:t>   - Database is fully operational</a:t>
            </a:r>
          </a:p>
          <a:p>
            <a:r>
              <a:rPr dirty="0"/>
              <a:t>   - Ready for development/testing use</a:t>
            </a:r>
          </a:p>
          <a:p>
            <a:endParaRPr dirty="0"/>
          </a:p>
          <a:p>
            <a:r>
              <a:rPr dirty="0"/>
              <a:t>• THE EQUALS SIGN in the middle represents our validation:</a:t>
            </a:r>
          </a:p>
          <a:p>
            <a:r>
              <a:rPr dirty="0"/>
              <a:t>  - Every parameter compared automatically</a:t>
            </a:r>
          </a:p>
          <a:p>
            <a:r>
              <a:rPr dirty="0"/>
              <a:t>  - Checkmarks show successful matches</a:t>
            </a:r>
          </a:p>
          <a:p>
            <a:r>
              <a:rPr dirty="0"/>
              <a:t>  - Any mismatches would be highlighted in red</a:t>
            </a:r>
          </a:p>
          <a:p>
            <a:endParaRPr dirty="0"/>
          </a:p>
          <a:p>
            <a:r>
              <a:rPr dirty="0"/>
              <a:t>• OUTPUT: Post-Check Report (HTML)</a:t>
            </a:r>
          </a:p>
          <a:p>
            <a:r>
              <a:rPr dirty="0"/>
              <a:t>  - Complete audit documentation</a:t>
            </a:r>
          </a:p>
          <a:p>
            <a:r>
              <a:rPr dirty="0"/>
              <a:t>  - Side-by-side comparison</a:t>
            </a:r>
          </a:p>
          <a:p>
            <a:r>
              <a:rPr dirty="0"/>
              <a:t>  - Timestamped for compliance</a:t>
            </a:r>
          </a:p>
          <a:p>
            <a:r>
              <a:rPr dirty="0"/>
              <a:t>  - Ready for audit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key benefit of our Toolkit is the GUI.</a:t>
            </a:r>
          </a:p>
          <a:p>
            <a:endParaRPr/>
          </a:p>
          <a:p>
            <a:r>
              <a:t>Instead of staring at a black command line, the DBA gets a Visual Dashboard. It uses simple Traffic Light logic.</a:t>
            </a:r>
          </a:p>
          <a:p>
            <a:endParaRPr/>
          </a:p>
          <a:p>
            <a:r>
              <a:t>Red means Stop. Green means Go.</a:t>
            </a:r>
          </a:p>
          <a:p>
            <a:r>
              <a:t>This allows DBAs to identify issues instantly, without parsing cryptic error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POINTS - Business Benefits:</a:t>
            </a:r>
          </a:p>
          <a:p>
            <a:endParaRPr/>
          </a:p>
          <a:p>
            <a:r>
              <a:t>• Let me summarize the key benefits:</a:t>
            </a:r>
          </a:p>
          <a:p>
            <a:endParaRPr/>
          </a:p>
          <a:p>
            <a:r>
              <a:t>1. REDUCE ERRORS:</a:t>
            </a:r>
          </a:p>
          <a:p>
            <a:r>
              <a:t>   - Automated checks prevent human mistakes</a:t>
            </a:r>
          </a:p>
          <a:p>
            <a:r>
              <a:t>   - Validation happens before any changes</a:t>
            </a:r>
          </a:p>
          <a:p>
            <a:r>
              <a:t>   - No more "oops, I forgot to check that"</a:t>
            </a:r>
          </a:p>
          <a:p>
            <a:endParaRPr/>
          </a:p>
          <a:p>
            <a:r>
              <a:t>2. SAVE TIME:</a:t>
            </a:r>
          </a:p>
          <a:p>
            <a:r>
              <a:t>   - What took hours now takes minutes</a:t>
            </a:r>
          </a:p>
          <a:p>
            <a:r>
              <a:t>   - DBAs freed for strategic work</a:t>
            </a:r>
          </a:p>
          <a:p>
            <a:r>
              <a:t>   - Development teams get environments faster</a:t>
            </a:r>
          </a:p>
          <a:p>
            <a:endParaRPr/>
          </a:p>
          <a:p>
            <a:r>
              <a:t>3. AUDIT READY:</a:t>
            </a:r>
          </a:p>
          <a:p>
            <a:r>
              <a:t>   - Professional HTML reports generated automatically</a:t>
            </a:r>
          </a:p>
          <a:p>
            <a:r>
              <a:t>   - Timestamps and details for compliance</a:t>
            </a:r>
          </a:p>
          <a:p>
            <a:r>
              <a:t>   - Complete documentation trail</a:t>
            </a:r>
          </a:p>
          <a:p>
            <a:endParaRPr/>
          </a:p>
          <a:p>
            <a:r>
              <a:t>4. LOWER RISK:</a:t>
            </a:r>
          </a:p>
          <a:p>
            <a:r>
              <a:t>   - Validated, repeatable process every time</a:t>
            </a:r>
          </a:p>
          <a:p>
            <a:r>
              <a:t>   - Same steps executed consistently</a:t>
            </a:r>
          </a:p>
          <a:p>
            <a:r>
              <a:t>   - No variation between operators</a:t>
            </a:r>
          </a:p>
          <a:p>
            <a:endParaRPr/>
          </a:p>
          <a:p>
            <a:r>
              <a:t>5. EASY TO USE:</a:t>
            </a:r>
          </a:p>
          <a:p>
            <a:r>
              <a:t>   - Visual interface - no coding required</a:t>
            </a:r>
          </a:p>
          <a:p>
            <a:r>
              <a:t>   - Point and click operation</a:t>
            </a:r>
          </a:p>
          <a:p>
            <a:r>
              <a:t>   - Minimal training needed</a:t>
            </a:r>
          </a:p>
          <a:p>
            <a:endParaRPr/>
          </a:p>
          <a:p>
            <a:r>
              <a:t>6. COST EFFECTIVE:</a:t>
            </a:r>
          </a:p>
          <a:p>
            <a:r>
              <a:t>   - Built with free, open-source tools</a:t>
            </a:r>
          </a:p>
          <a:p>
            <a:r>
              <a:t>   - No licensing fees</a:t>
            </a:r>
          </a:p>
          <a:p>
            <a:r>
              <a:t>   - No additional hardware costs</a:t>
            </a:r>
          </a:p>
          <a:p>
            <a:endParaRPr/>
          </a:p>
          <a:p>
            <a:r>
              <a:t>• BOTTOM LINE: Better quality, faster delivery, lower risk, documented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 will now show you the tool in action.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6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93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129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67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34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75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322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77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82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603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15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2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239" y="2286000"/>
            <a:ext cx="7901523" cy="20005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Automated Validation for</a:t>
            </a:r>
            <a:br>
              <a:rPr dirty="0"/>
            </a:br>
            <a:r>
              <a:rPr lang="en-US" dirty="0"/>
              <a:t>Oracle PDB/</a:t>
            </a:r>
            <a:r>
              <a:rPr lang="en-US" dirty="0" err="1"/>
              <a:t>Dataguard</a:t>
            </a:r>
            <a:r>
              <a:rPr lang="en-US" dirty="0"/>
              <a:t> Migration</a:t>
            </a:r>
            <a:endParaRPr dirty="0"/>
          </a:p>
          <a:p>
            <a:br>
              <a:rPr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Presenter: Tim Zhang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Risk of Manual Migration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3200400" cy="41148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9900"/>
                </a:solidFill>
                <a:latin typeface="Courier New"/>
              </a:defRPr>
            </a:pPr>
            <a:r>
              <a:t>&gt; ORA-00600: internal error</a:t>
            </a:r>
            <a:br/>
            <a:r>
              <a:t>&gt; select * from violations;</a:t>
            </a:r>
            <a:br/>
            <a:r>
              <a:t>&gt; NAME   CAUSE   TYPE</a:t>
            </a:r>
            <a:br/>
            <a:r>
              <a:t>&gt; PDB1   XML     ERROR</a:t>
            </a:r>
            <a:br/>
            <a:r>
              <a:t>&gt; ... (200 lines of text)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Manual Script Output:</a:t>
            </a:r>
            <a:br/>
            <a:r>
              <a:t>Hard to read, easy to miss errors.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3200400" cy="4114800"/>
          </a:xfrm>
          <a:prstGeom prst="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C00000"/>
                </a:solidFill>
              </a:defRPr>
            </a:pPr>
            <a:r>
              <a:rPr dirty="0"/>
              <a:t>MANUAL RISKS</a:t>
            </a:r>
          </a:p>
          <a:p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- Slow Execution</a:t>
            </a:r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(30 mins/DB)</a:t>
            </a:r>
          </a:p>
          <a:p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- Human Error</a:t>
            </a:r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(Fatigue at 3 AM)</a:t>
            </a:r>
          </a:p>
          <a:p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- Missed Violations</a:t>
            </a:r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(Buried in logs)</a:t>
            </a:r>
          </a:p>
          <a:p>
            <a:br>
              <a:rPr b="1" dirty="0">
                <a:solidFill>
                  <a:schemeClr val="tx1"/>
                </a:solidFill>
              </a:rPr>
            </a:br>
            <a:r>
              <a:rPr b="1" dirty="0">
                <a:solidFill>
                  <a:schemeClr val="tx1"/>
                </a:solidFill>
              </a:rPr>
              <a:t>- No Audit Trail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dirty="0"/>
              <a:t>Solution: 3-Step Automated Process</a:t>
            </a:r>
          </a:p>
        </p:txBody>
      </p:sp>
      <p:sp>
        <p:nvSpPr>
          <p:cNvPr id="3" name="Chevron 2"/>
          <p:cNvSpPr/>
          <p:nvPr/>
        </p:nvSpPr>
        <p:spPr>
          <a:xfrm>
            <a:off x="914400" y="2743200"/>
            <a:ext cx="2286000" cy="1371600"/>
          </a:xfrm>
          <a:prstGeom prst="chevron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002060"/>
                </a:solidFill>
              </a:defRPr>
            </a:pPr>
            <a:r>
              <a:t>1. PRE-CHECK</a:t>
            </a:r>
          </a:p>
          <a:p>
            <a:r>
              <a:t>(Validation)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- Storage Check</a:t>
            </a:r>
            <a:br/>
            <a:r>
              <a:t>- TDE Wallet Check</a:t>
            </a:r>
            <a:br/>
            <a:r>
              <a:t>- XML Compatibility</a:t>
            </a:r>
          </a:p>
        </p:txBody>
      </p:sp>
      <p:sp>
        <p:nvSpPr>
          <p:cNvPr id="5" name="Chevron 4"/>
          <p:cNvSpPr/>
          <p:nvPr/>
        </p:nvSpPr>
        <p:spPr>
          <a:xfrm>
            <a:off x="3474720" y="2743200"/>
            <a:ext cx="2286000" cy="1371600"/>
          </a:xfrm>
          <a:prstGeom prst="chevron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2. EXECUTION</a:t>
            </a:r>
          </a:p>
          <a:p>
            <a:r>
              <a:t>(Cloning)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41148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- Unplug PDB</a:t>
            </a:r>
            <a:br/>
            <a:r>
              <a:t>- Transfer Files</a:t>
            </a:r>
            <a:br/>
            <a:r>
              <a:t>- Plug PDB</a:t>
            </a:r>
          </a:p>
        </p:txBody>
      </p:sp>
      <p:sp>
        <p:nvSpPr>
          <p:cNvPr id="7" name="Chevron 6"/>
          <p:cNvSpPr/>
          <p:nvPr/>
        </p:nvSpPr>
        <p:spPr>
          <a:xfrm>
            <a:off x="6035040" y="2743200"/>
            <a:ext cx="2286000" cy="1371600"/>
          </a:xfrm>
          <a:prstGeom prst="chevron">
            <a:avLst/>
          </a:prstGeom>
          <a:solidFill>
            <a:srgbClr val="00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3. POST-CHECK</a:t>
            </a:r>
          </a:p>
          <a:p>
            <a:r>
              <a:t>(Verification)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1148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- Violation Check</a:t>
            </a:r>
            <a:br/>
            <a:r>
              <a:t>- Open Read/Write</a:t>
            </a:r>
            <a:br/>
            <a:r>
              <a:t>- App Connectivity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2990" y="1268168"/>
            <a:ext cx="3772186" cy="4617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rPr sz="2401" dirty="0"/>
              <a:t>Step 1: Pre-Check Validation</a:t>
            </a:r>
          </a:p>
        </p:txBody>
      </p:sp>
      <p:sp>
        <p:nvSpPr>
          <p:cNvPr id="4" name="Oval 3"/>
          <p:cNvSpPr/>
          <p:nvPr/>
        </p:nvSpPr>
        <p:spPr>
          <a:xfrm>
            <a:off x="342990" y="1885548"/>
            <a:ext cx="548783" cy="548783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447303" y="1954146"/>
            <a:ext cx="340158" cy="4617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sz="2401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969" y="1919847"/>
            <a:ext cx="685978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rPr sz="1350"/>
              <a:t>Before copying the database, the toolkit automatically checks everything is compatible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90" y="2571527"/>
            <a:ext cx="2606719" cy="102896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Oval 7"/>
          <p:cNvSpPr/>
          <p:nvPr/>
        </p:nvSpPr>
        <p:spPr>
          <a:xfrm>
            <a:off x="445887" y="2674424"/>
            <a:ext cx="342989" cy="342989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452913" y="2708723"/>
            <a:ext cx="32893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sz="15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474" y="2674424"/>
            <a:ext cx="12939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rPr sz="1200"/>
              <a:t>Database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887" y="3051712"/>
            <a:ext cx="24009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rPr sz="900"/>
              <a:t>Ensures both databases are same 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86904" y="2571527"/>
            <a:ext cx="2606719" cy="102896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Oval 12"/>
          <p:cNvSpPr/>
          <p:nvPr/>
        </p:nvSpPr>
        <p:spPr>
          <a:xfrm>
            <a:off x="3189801" y="2674424"/>
            <a:ext cx="342989" cy="342989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3196828" y="2708723"/>
            <a:ext cx="32893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sz="1500"/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1388" y="2674424"/>
            <a:ext cx="103586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rPr sz="1200"/>
              <a:t>Character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9801" y="3051712"/>
            <a:ext cx="24009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rPr sz="900"/>
              <a:t>Confirms text encoding matches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30819" y="2571527"/>
            <a:ext cx="2606719" cy="102896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Oval 17"/>
          <p:cNvSpPr/>
          <p:nvPr/>
        </p:nvSpPr>
        <p:spPr>
          <a:xfrm>
            <a:off x="5933716" y="2674424"/>
            <a:ext cx="342989" cy="342989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5940742" y="2708723"/>
            <a:ext cx="32893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sz="1500"/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303" y="2674424"/>
            <a:ext cx="107420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rPr sz="1200"/>
              <a:t>Storage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3716" y="3051712"/>
            <a:ext cx="24009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rPr sz="900"/>
              <a:t>Verifies target has enough disk space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90" y="3806288"/>
            <a:ext cx="2606719" cy="102896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Oval 22"/>
          <p:cNvSpPr/>
          <p:nvPr/>
        </p:nvSpPr>
        <p:spPr>
          <a:xfrm>
            <a:off x="445887" y="3909185"/>
            <a:ext cx="342989" cy="342989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TextBox 23"/>
          <p:cNvSpPr txBox="1"/>
          <p:nvPr/>
        </p:nvSpPr>
        <p:spPr>
          <a:xfrm>
            <a:off x="452913" y="3943484"/>
            <a:ext cx="32893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sz="1500"/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474" y="3909186"/>
            <a:ext cx="108074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rPr sz="1200"/>
              <a:t>Security (TDE)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887" y="4286473"/>
            <a:ext cx="24009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rPr sz="900"/>
              <a:t>Checks encryption settings match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86904" y="3806288"/>
            <a:ext cx="2606719" cy="102896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Oval 27"/>
          <p:cNvSpPr/>
          <p:nvPr/>
        </p:nvSpPr>
        <p:spPr>
          <a:xfrm>
            <a:off x="3189801" y="3909185"/>
            <a:ext cx="342989" cy="342989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9" name="TextBox 28"/>
          <p:cNvSpPr txBox="1"/>
          <p:nvPr/>
        </p:nvSpPr>
        <p:spPr>
          <a:xfrm>
            <a:off x="3196828" y="3943484"/>
            <a:ext cx="32893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sz="1500"/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1388" y="3909186"/>
            <a:ext cx="80342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rPr sz="1200"/>
              <a:t>Timezone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9801" y="4286473"/>
            <a:ext cx="24009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rPr sz="900"/>
              <a:t>Confirms time settings are aligned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30819" y="3806288"/>
            <a:ext cx="2606719" cy="102896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3" name="Oval 32"/>
          <p:cNvSpPr/>
          <p:nvPr/>
        </p:nvSpPr>
        <p:spPr>
          <a:xfrm>
            <a:off x="5933716" y="3909185"/>
            <a:ext cx="342989" cy="342989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4" name="TextBox 33"/>
          <p:cNvSpPr txBox="1"/>
          <p:nvPr/>
        </p:nvSpPr>
        <p:spPr>
          <a:xfrm>
            <a:off x="5940742" y="3943484"/>
            <a:ext cx="32893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sz="1500"/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303" y="3909186"/>
            <a:ext cx="105349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rPr sz="1200"/>
              <a:t>Configuration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33716" y="4286473"/>
            <a:ext cx="24009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rPr sz="900"/>
              <a:t>Compares database parameters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90" y="4903854"/>
            <a:ext cx="8458117" cy="685979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8" name="TextBox 37"/>
          <p:cNvSpPr txBox="1"/>
          <p:nvPr/>
        </p:nvSpPr>
        <p:spPr>
          <a:xfrm>
            <a:off x="411588" y="5041050"/>
            <a:ext cx="8320921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A745"/>
                </a:solidFill>
              </a:defRPr>
            </a:pPr>
            <a:r>
              <a:rPr sz="1350"/>
              <a:t>Output: Pre-Check Report (HTML) with PASS/FAIL status for each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2990" y="1268168"/>
            <a:ext cx="3169457" cy="4617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rPr sz="2401"/>
              <a:t>Step 2: Clone Execution</a:t>
            </a:r>
          </a:p>
        </p:txBody>
      </p:sp>
      <p:sp>
        <p:nvSpPr>
          <p:cNvPr id="4" name="Oval 3"/>
          <p:cNvSpPr/>
          <p:nvPr/>
        </p:nvSpPr>
        <p:spPr>
          <a:xfrm>
            <a:off x="342990" y="1885548"/>
            <a:ext cx="548783" cy="548783"/>
          </a:xfrm>
          <a:prstGeom prst="ellipse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447303" y="1954146"/>
            <a:ext cx="340158" cy="4617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sz="2401"/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969" y="1919847"/>
            <a:ext cx="685978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rPr sz="1350"/>
              <a:t>The toolkit automatically copies the database to the target 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90" y="2777320"/>
            <a:ext cx="2057936" cy="1371957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735405" y="2845918"/>
            <a:ext cx="127310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8A745"/>
                </a:solidFill>
              </a:defRPr>
            </a:pPr>
            <a:r>
              <a:rPr sz="1050"/>
              <a:t>SOURCE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7264" y="3188907"/>
            <a:ext cx="569388" cy="5541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rPr sz="3001"/>
              <a:t>🗄️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9062" y="3737690"/>
            <a:ext cx="78579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rPr sz="1050"/>
              <a:t>Production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69523" y="3360402"/>
            <a:ext cx="548783" cy="274391"/>
          </a:xfrm>
          <a:prstGeom prst="rightArrow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Rounded Rectangle 11"/>
          <p:cNvSpPr/>
          <p:nvPr/>
        </p:nvSpPr>
        <p:spPr>
          <a:xfrm>
            <a:off x="3086904" y="2571527"/>
            <a:ext cx="2970288" cy="1783544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4026065" y="2640124"/>
            <a:ext cx="1091967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74F00"/>
                </a:solidFill>
              </a:defRPr>
            </a:pPr>
            <a:r>
              <a:rPr sz="1050"/>
              <a:t>CLONE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4100" y="2983114"/>
            <a:ext cx="2743915" cy="93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400">
                <a:solidFill>
                  <a:srgbClr val="333333"/>
                </a:solidFill>
              </a:defRPr>
            </a:pPr>
            <a:r>
              <a:rPr sz="1050"/>
              <a:t>1. Create Database Link</a:t>
            </a:r>
          </a:p>
          <a:p>
            <a:pPr>
              <a:spcAft>
                <a:spcPts val="450"/>
              </a:spcAft>
              <a:defRPr sz="1400">
                <a:solidFill>
                  <a:srgbClr val="333333"/>
                </a:solidFill>
              </a:defRPr>
            </a:pPr>
            <a:r>
              <a:rPr sz="1050"/>
              <a:t>2. Execute Clone Command</a:t>
            </a:r>
          </a:p>
          <a:p>
            <a:pPr>
              <a:spcAft>
                <a:spcPts val="450"/>
              </a:spcAft>
              <a:defRPr sz="1400">
                <a:solidFill>
                  <a:srgbClr val="333333"/>
                </a:solidFill>
              </a:defRPr>
            </a:pPr>
            <a:r>
              <a:rPr sz="1050"/>
              <a:t>3. Open New Database</a:t>
            </a:r>
          </a:p>
          <a:p>
            <a:pPr>
              <a:spcAft>
                <a:spcPts val="450"/>
              </a:spcAft>
              <a:defRPr sz="1400">
                <a:solidFill>
                  <a:srgbClr val="333333"/>
                </a:solidFill>
              </a:defRPr>
            </a:pPr>
            <a:r>
              <a:rPr sz="1050"/>
              <a:t>4. Save State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25790" y="3360402"/>
            <a:ext cx="548783" cy="274391"/>
          </a:xfrm>
          <a:prstGeom prst="rightArrow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Rounded Rectangle 15"/>
          <p:cNvSpPr/>
          <p:nvPr/>
        </p:nvSpPr>
        <p:spPr>
          <a:xfrm>
            <a:off x="6743170" y="2777320"/>
            <a:ext cx="2057936" cy="1371957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7141196" y="2845918"/>
            <a:ext cx="126188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rPr sz="1050"/>
              <a:t>TARGET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7445" y="3188907"/>
            <a:ext cx="569388" cy="5541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rPr sz="3001"/>
              <a:t>🗄️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2486" y="3737690"/>
            <a:ext cx="73930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rPr sz="1050"/>
              <a:t>Dev /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90" y="4423669"/>
            <a:ext cx="8458117" cy="548783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TextBox 20"/>
          <p:cNvSpPr txBox="1"/>
          <p:nvPr/>
        </p:nvSpPr>
        <p:spPr>
          <a:xfrm>
            <a:off x="2512029" y="4526566"/>
            <a:ext cx="412003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74F00"/>
                </a:solidFill>
              </a:defRPr>
            </a:pPr>
            <a:r>
              <a:rPr sz="1200"/>
              <a:t>Real-time progress displayed in the application - no guesswork!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90" y="5041050"/>
            <a:ext cx="8458117" cy="548783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TextBox 22"/>
          <p:cNvSpPr txBox="1"/>
          <p:nvPr/>
        </p:nvSpPr>
        <p:spPr>
          <a:xfrm>
            <a:off x="2372568" y="5143947"/>
            <a:ext cx="4398961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74F00"/>
                </a:solidFill>
              </a:defRPr>
            </a:pPr>
            <a:r>
              <a:rPr sz="1350"/>
              <a:t>Output: New database created and opened - ready for use!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856580"/>
            <a:ext cx="9144095" cy="274391"/>
          </a:xfrm>
          <a:prstGeom prst="rect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342990" y="1268168"/>
            <a:ext cx="4067139" cy="4617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rPr sz="2401"/>
              <a:t>Step 3: Post-Check Verification</a:t>
            </a:r>
          </a:p>
        </p:txBody>
      </p:sp>
      <p:sp>
        <p:nvSpPr>
          <p:cNvPr id="4" name="Oval 3"/>
          <p:cNvSpPr/>
          <p:nvPr/>
        </p:nvSpPr>
        <p:spPr>
          <a:xfrm>
            <a:off x="342990" y="1885548"/>
            <a:ext cx="548783" cy="548783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447303" y="1954146"/>
            <a:ext cx="340158" cy="4617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sz="2401"/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969" y="1919847"/>
            <a:ext cx="685978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rPr sz="1350"/>
              <a:t>After cloning, the toolkit verifies the new database matches the original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89" y="2640125"/>
            <a:ext cx="3772883" cy="2057936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1558414" y="2708723"/>
            <a:ext cx="134203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A745"/>
                </a:solidFill>
              </a:defRPr>
            </a:pPr>
            <a:r>
              <a:rPr sz="1200"/>
              <a:t>SOURCE (Original)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185" y="3051712"/>
            <a:ext cx="349849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600">
                <a:solidFill>
                  <a:srgbClr val="333333"/>
                </a:solidFill>
              </a:defRPr>
            </a:pPr>
            <a:r>
              <a:rPr sz="1200"/>
              <a:t>•  Database Size: 45.73 GB</a:t>
            </a:r>
          </a:p>
          <a:p>
            <a:pPr>
              <a:spcAft>
                <a:spcPts val="750"/>
              </a:spcAft>
              <a:defRPr sz="1600">
                <a:solidFill>
                  <a:srgbClr val="333333"/>
                </a:solidFill>
              </a:defRPr>
            </a:pPr>
            <a:r>
              <a:rPr sz="1200"/>
              <a:t>•  Parameters: 127 custom</a:t>
            </a:r>
          </a:p>
          <a:p>
            <a:pPr>
              <a:spcAft>
                <a:spcPts val="750"/>
              </a:spcAft>
              <a:defRPr sz="1600">
                <a:solidFill>
                  <a:srgbClr val="333333"/>
                </a:solidFill>
              </a:defRPr>
            </a:pPr>
            <a:r>
              <a:rPr sz="1200"/>
              <a:t>•  Services: 3 active</a:t>
            </a:r>
          </a:p>
          <a:p>
            <a:pPr>
              <a:spcAft>
                <a:spcPts val="750"/>
              </a:spcAft>
              <a:defRPr sz="1600">
                <a:solidFill>
                  <a:srgbClr val="333333"/>
                </a:solidFill>
              </a:defRPr>
            </a:pPr>
            <a:r>
              <a:rPr sz="1200"/>
              <a:t>•  Status: READ WRITE</a:t>
            </a:r>
          </a:p>
        </p:txBody>
      </p:sp>
      <p:sp>
        <p:nvSpPr>
          <p:cNvPr id="10" name="Oval 9"/>
          <p:cNvSpPr/>
          <p:nvPr/>
        </p:nvSpPr>
        <p:spPr>
          <a:xfrm>
            <a:off x="4218769" y="3326103"/>
            <a:ext cx="685979" cy="685979"/>
          </a:xfrm>
          <a:prstGeom prst="ellipse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4392481" y="3497598"/>
            <a:ext cx="338554" cy="4617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sz="2401"/>
              <a:t>=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8224" y="2640125"/>
            <a:ext cx="3772883" cy="2057936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6186196" y="2708723"/>
            <a:ext cx="14569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rPr sz="1200"/>
              <a:t>TARGET (New Copy)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5420" y="3051712"/>
            <a:ext cx="349849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600">
                <a:solidFill>
                  <a:srgbClr val="333333"/>
                </a:solidFill>
              </a:defRPr>
            </a:pPr>
            <a:r>
              <a:rPr sz="1200"/>
              <a:t>•  Database Size: 45.73 GB  ✓</a:t>
            </a:r>
          </a:p>
          <a:p>
            <a:pPr>
              <a:spcAft>
                <a:spcPts val="750"/>
              </a:spcAft>
              <a:defRPr sz="1600">
                <a:solidFill>
                  <a:srgbClr val="333333"/>
                </a:solidFill>
              </a:defRPr>
            </a:pPr>
            <a:r>
              <a:rPr sz="1200"/>
              <a:t>•  Parameters: 127 custom  ✓</a:t>
            </a:r>
          </a:p>
          <a:p>
            <a:pPr>
              <a:spcAft>
                <a:spcPts val="750"/>
              </a:spcAft>
              <a:defRPr sz="1600">
                <a:solidFill>
                  <a:srgbClr val="333333"/>
                </a:solidFill>
              </a:defRPr>
            </a:pPr>
            <a:r>
              <a:rPr sz="1200"/>
              <a:t>•  Services: 3 active  ✓</a:t>
            </a:r>
          </a:p>
          <a:p>
            <a:pPr>
              <a:spcAft>
                <a:spcPts val="750"/>
              </a:spcAft>
              <a:defRPr sz="1600">
                <a:solidFill>
                  <a:srgbClr val="333333"/>
                </a:solidFill>
              </a:defRPr>
            </a:pPr>
            <a:r>
              <a:rPr sz="1200"/>
              <a:t>•  Status: READ WRITE  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90" y="4903854"/>
            <a:ext cx="8458117" cy="685979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411588" y="5041050"/>
            <a:ext cx="8320921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6CC"/>
                </a:solidFill>
              </a:defRPr>
            </a:pPr>
            <a:r>
              <a:rPr sz="1350"/>
              <a:t>Output: Post-Check Report (HTML) documenting all comparisons for audit compliance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Benefit: Visual GUI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64008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/>
            </a:pPr>
            <a:r>
              <a:t>  Validation Console - Status: READY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2743200"/>
            <a:ext cx="365760" cy="365760"/>
          </a:xfrm>
          <a:prstGeom prst="ellipse">
            <a:avLst/>
          </a:prstGeom>
          <a:solidFill>
            <a:srgbClr val="00990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7744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Storage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743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PASS</a:t>
            </a:r>
          </a:p>
        </p:txBody>
      </p:sp>
      <p:sp>
        <p:nvSpPr>
          <p:cNvPr id="8" name="Oval 7"/>
          <p:cNvSpPr/>
          <p:nvPr/>
        </p:nvSpPr>
        <p:spPr>
          <a:xfrm>
            <a:off x="1828800" y="3657600"/>
            <a:ext cx="365760" cy="365760"/>
          </a:xfrm>
          <a:prstGeom prst="ellipse">
            <a:avLst/>
          </a:prstGeom>
          <a:solidFill>
            <a:srgbClr val="00990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4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TDE Wallet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657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009900"/>
                </a:solidFill>
              </a:defRPr>
            </a:pPr>
            <a:r>
              <a:t>PASS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4572000"/>
            <a:ext cx="365760" cy="365760"/>
          </a:xfrm>
          <a:prstGeom prst="ellipse">
            <a:avLst/>
          </a:prstGeom>
          <a:solidFill>
            <a:srgbClr val="C0000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77440" y="4572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XML Compatibility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572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t>FAIL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856580"/>
            <a:ext cx="9144095" cy="274391"/>
          </a:xfrm>
          <a:prstGeom prst="rect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342990" y="1268168"/>
            <a:ext cx="2404826" cy="4617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rPr sz="2401"/>
              <a:t>Business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90" y="1885548"/>
            <a:ext cx="2627298" cy="1371957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Oval 4"/>
          <p:cNvSpPr/>
          <p:nvPr/>
        </p:nvSpPr>
        <p:spPr>
          <a:xfrm>
            <a:off x="1385677" y="2022744"/>
            <a:ext cx="411587" cy="411587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1383721" y="2057043"/>
            <a:ext cx="4154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977" y="2502929"/>
            <a:ext cx="1175323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rPr sz="1350"/>
              <a:t>Reduce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588" y="2811619"/>
            <a:ext cx="249010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rPr sz="1050"/>
              <a:t>Automated checks prevent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86904" y="1885548"/>
            <a:ext cx="2627298" cy="1371957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Oval 9"/>
          <p:cNvSpPr/>
          <p:nvPr/>
        </p:nvSpPr>
        <p:spPr>
          <a:xfrm>
            <a:off x="4129592" y="2022744"/>
            <a:ext cx="411587" cy="411587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4127636" y="2057043"/>
            <a:ext cx="4154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5140" y="2502929"/>
            <a:ext cx="910827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rPr sz="1350"/>
              <a:t>Save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5502" y="2811619"/>
            <a:ext cx="249010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rPr sz="1050"/>
              <a:t>Hours reduced to minutes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0819" y="1885548"/>
            <a:ext cx="2627298" cy="1371957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Oval 14"/>
          <p:cNvSpPr/>
          <p:nvPr/>
        </p:nvSpPr>
        <p:spPr>
          <a:xfrm>
            <a:off x="6873506" y="2022744"/>
            <a:ext cx="411587" cy="411587"/>
          </a:xfrm>
          <a:prstGeom prst="ellipse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6871550" y="2057043"/>
            <a:ext cx="4154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6118" y="2502929"/>
            <a:ext cx="1056700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rPr sz="1350"/>
              <a:t>Audit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9417" y="2811619"/>
            <a:ext cx="249010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rPr sz="1050"/>
              <a:t>Professional documentation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90" y="3600495"/>
            <a:ext cx="2627298" cy="1371957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Oval 19"/>
          <p:cNvSpPr/>
          <p:nvPr/>
        </p:nvSpPr>
        <p:spPr>
          <a:xfrm>
            <a:off x="1385677" y="3737690"/>
            <a:ext cx="411587" cy="411587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TextBox 20"/>
          <p:cNvSpPr txBox="1"/>
          <p:nvPr/>
        </p:nvSpPr>
        <p:spPr>
          <a:xfrm>
            <a:off x="1383721" y="3771990"/>
            <a:ext cx="4154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8014" y="4217875"/>
            <a:ext cx="957250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rPr sz="1350"/>
              <a:t>Lower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588" y="4526566"/>
            <a:ext cx="249010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rPr sz="1050"/>
              <a:t>Validated, repeatable process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86904" y="3600495"/>
            <a:ext cx="2627298" cy="1371957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Oval 24"/>
          <p:cNvSpPr/>
          <p:nvPr/>
        </p:nvSpPr>
        <p:spPr>
          <a:xfrm>
            <a:off x="4129592" y="3737690"/>
            <a:ext cx="411587" cy="411587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TextBox 25"/>
          <p:cNvSpPr txBox="1"/>
          <p:nvPr/>
        </p:nvSpPr>
        <p:spPr>
          <a:xfrm>
            <a:off x="4127636" y="3771990"/>
            <a:ext cx="4154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2661" y="4217875"/>
            <a:ext cx="995786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rPr sz="1350"/>
              <a:t>Easy to 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5502" y="4526566"/>
            <a:ext cx="249010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rPr sz="1050"/>
              <a:t>Visual interface, no coding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30819" y="3600495"/>
            <a:ext cx="2627298" cy="1371957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0" name="Oval 29"/>
          <p:cNvSpPr/>
          <p:nvPr/>
        </p:nvSpPr>
        <p:spPr>
          <a:xfrm>
            <a:off x="6873506" y="3737690"/>
            <a:ext cx="411587" cy="411587"/>
          </a:xfrm>
          <a:prstGeom prst="ellipse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1" name="TextBox 30"/>
          <p:cNvSpPr txBox="1"/>
          <p:nvPr/>
        </p:nvSpPr>
        <p:spPr>
          <a:xfrm>
            <a:off x="6871550" y="3771990"/>
            <a:ext cx="4154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3638" y="4217875"/>
            <a:ext cx="1141659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rPr sz="1350"/>
              <a:t>Cost Effective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9417" y="4526566"/>
            <a:ext cx="249010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rPr sz="1050"/>
              <a:t>Built with free tools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Live Demonstration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7315200" cy="4114800"/>
          </a:xfrm>
          <a:prstGeom prst="roundRect">
            <a:avLst/>
          </a:prstGeom>
          <a:solidFill>
            <a:srgbClr val="4040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6949440" cy="3200400"/>
          </a:xfrm>
          <a:prstGeom prst="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404040"/>
                </a:solidFill>
              </a:defRPr>
            </a:pPr>
            <a:r>
              <a:t>Validation Console...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002060"/>
                </a:solidFill>
              </a:defRPr>
            </a:pPr>
            <a:r>
              <a:rPr lang="en-US" dirty="0"/>
              <a:t>                                        </a:t>
            </a:r>
            <a:r>
              <a:rPr dirty="0"/>
              <a:t>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</TotalTime>
  <Words>1549</Words>
  <Application>Microsoft Macintosh PowerPoint</Application>
  <PresentationFormat>On-screen Show (4:3)</PresentationFormat>
  <Paragraphs>282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Chen, Yongmei {GNAE~SOUTH SAN FRANCISCO}</cp:lastModifiedBy>
  <cp:revision>6</cp:revision>
  <dcterms:created xsi:type="dcterms:W3CDTF">2013-01-27T09:14:16Z</dcterms:created>
  <dcterms:modified xsi:type="dcterms:W3CDTF">2026-02-18T07:44:51Z</dcterms:modified>
  <cp:category/>
</cp:coreProperties>
</file>