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963" autoAdjust="0"/>
  </p:normalViewPr>
  <p:slideViewPr>
    <p:cSldViewPr snapToGrid="0" snapToObjects="1">
      <p:cViewPr varScale="1">
        <p:scale>
          <a:sx n="121" d="100"/>
          <a:sy n="121" d="100"/>
        </p:scale>
        <p:origin x="400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71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POINTS - Title Slide:</a:t>
            </a:r>
          </a:p>
          <a:p>
            <a:endParaRPr/>
          </a:p>
          <a:p>
            <a:r>
              <a:t>• Welcome everyone to this presentation on the Oracle PDB Management Toolkit</a:t>
            </a:r>
          </a:p>
          <a:p>
            <a:endParaRPr/>
          </a:p>
          <a:p>
            <a:r>
              <a:t>• This toolkit represents a significant advancement in database operations automation</a:t>
            </a:r>
          </a:p>
          <a:p>
            <a:endParaRPr/>
          </a:p>
          <a:p>
            <a:r>
              <a:t>• Key message: We've transformed a complex, error-prone manual process into a simple, automated workflow</a:t>
            </a:r>
          </a:p>
          <a:p>
            <a:endParaRPr/>
          </a:p>
          <a:p>
            <a:r>
              <a:t>• The toolkit uses dynamic workflow automation - meaning it adapts to your environment automatically</a:t>
            </a:r>
          </a:p>
          <a:p>
            <a:endParaRPr/>
          </a:p>
          <a:p>
            <a:r>
              <a:t>• Version 2.0 includes major enhancements including automated pre-checks, intelligent error handling, and comprehensive reporting</a:t>
            </a:r>
          </a:p>
          <a:p>
            <a:endParaRPr/>
          </a:p>
          <a:p>
            <a:r>
              <a:t>• Today I'll walk you through how this tool can benefit our 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POINTS - Executive Summary:</a:t>
            </a:r>
          </a:p>
          <a:p>
            <a:endParaRPr/>
          </a:p>
          <a:p>
            <a:r>
              <a:t>• The Oracle PDB Management Toolkit is our solution for automated database cloning</a:t>
            </a:r>
          </a:p>
          <a:p>
            <a:endParaRPr/>
          </a:p>
          <a:p>
            <a:r>
              <a:t>• KEY POINT: This is not just automation - it's INTELLIGENT automation</a:t>
            </a:r>
          </a:p>
          <a:p>
            <a:r>
              <a:t>  - The system automatically detects your Oracle environment</a:t>
            </a:r>
          </a:p>
          <a:p>
            <a:r>
              <a:t>  - It adapts its workflow based on what it discovers</a:t>
            </a:r>
          </a:p>
          <a:p>
            <a:r>
              <a:t>  - No manual configuration required</a:t>
            </a:r>
          </a:p>
          <a:p>
            <a:endParaRPr/>
          </a:p>
          <a:p>
            <a:r>
              <a:t>• The 3-step workflow is:</a:t>
            </a:r>
          </a:p>
          <a:p>
            <a:r>
              <a:t>  1. Pre-Check - Validates compatibility automatically</a:t>
            </a:r>
          </a:p>
          <a:p>
            <a:r>
              <a:t>  2. Clone - Executes the database copy</a:t>
            </a:r>
          </a:p>
          <a:p>
            <a:r>
              <a:t>  3. Post-Check - Verifies the result</a:t>
            </a:r>
          </a:p>
          <a:p>
            <a:endParaRPr/>
          </a:p>
          <a:p>
            <a:r>
              <a:t>• Dynamic Decision Engine:</a:t>
            </a:r>
          </a:p>
          <a:p>
            <a:r>
              <a:t>  - If pre-checks pass → proceeds to clone</a:t>
            </a:r>
          </a:p>
          <a:p>
            <a:r>
              <a:t>  - If issues found → provides specific remediation steps</a:t>
            </a:r>
          </a:p>
          <a:p>
            <a:r>
              <a:t>  - If clone completes → automatically runs verification</a:t>
            </a:r>
          </a:p>
          <a:p>
            <a:endParaRPr/>
          </a:p>
          <a:p>
            <a:r>
              <a:t>• Reports are generated automatically with timestamps for audit compliance</a:t>
            </a:r>
          </a:p>
          <a:p>
            <a:endParaRPr/>
          </a:p>
          <a:p>
            <a:r>
              <a:t>• This means your DBAs spend time on strategic work, not repetitive 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POINTS - The Business Problem:</a:t>
            </a:r>
          </a:p>
          <a:p>
            <a:endParaRPr/>
          </a:p>
          <a:p>
            <a:r>
              <a:t>• Let me explain why we need this toolkit</a:t>
            </a:r>
          </a:p>
          <a:p>
            <a:endParaRPr/>
          </a:p>
          <a:p>
            <a:r>
              <a:t>• Database cloning is a CRITICAL operation:</a:t>
            </a:r>
          </a:p>
          <a:p>
            <a:r>
              <a:t>  - Development teams need production-like data for testing</a:t>
            </a:r>
          </a:p>
          <a:p>
            <a:r>
              <a:t>  - QA needs accurate environments for validation</a:t>
            </a:r>
          </a:p>
          <a:p>
            <a:r>
              <a:t>  - DR requires validated database copies</a:t>
            </a:r>
          </a:p>
          <a:p>
            <a:endParaRPr/>
          </a:p>
          <a:p>
            <a:r>
              <a:t>• The MANUAL process is problematic:</a:t>
            </a:r>
          </a:p>
          <a:p>
            <a:r>
              <a:t>  - Requires highly specialized Oracle DBA expertise</a:t>
            </a:r>
          </a:p>
          <a:p>
            <a:r>
              <a:t>  - Each clone involves 10+ manual validation steps</a:t>
            </a:r>
          </a:p>
          <a:p>
            <a:r>
              <a:t>  - Easy to miss a compatibility issue</a:t>
            </a:r>
          </a:p>
          <a:p>
            <a:r>
              <a:t>  - A single mistake can corrupt the target database</a:t>
            </a:r>
          </a:p>
          <a:p>
            <a:endParaRPr/>
          </a:p>
          <a:p>
            <a:r>
              <a:t>• Real business impact of failures:</a:t>
            </a:r>
          </a:p>
          <a:p>
            <a:r>
              <a:t>  - Database downtime affects all dependent applications</a:t>
            </a:r>
          </a:p>
          <a:p>
            <a:r>
              <a:t>  - Failed clones delay development projects</a:t>
            </a:r>
          </a:p>
          <a:p>
            <a:r>
              <a:t>  - Compliance audits fail without proper documentation</a:t>
            </a:r>
          </a:p>
          <a:p>
            <a:r>
              <a:t>  - DBA time is expensive and limited</a:t>
            </a:r>
          </a:p>
          <a:p>
            <a:endParaRPr/>
          </a:p>
          <a:p>
            <a:r>
              <a:t>• Our toolkit ELIMINATES these problems through automation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POINTS - System Architecture Overview:</a:t>
            </a:r>
          </a:p>
          <a:p>
            <a:endParaRPr/>
          </a:p>
          <a:p>
            <a:r>
              <a:t>• This diagram shows our 3-layer architecture</a:t>
            </a:r>
          </a:p>
          <a:p>
            <a:endParaRPr/>
          </a:p>
          <a:p>
            <a:r>
              <a:t>• USER LAYER (Top):</a:t>
            </a:r>
          </a:p>
          <a:p>
            <a:r>
              <a:t>  - The DBA interacts with a simple visual interface</a:t>
            </a:r>
          </a:p>
          <a:p>
            <a:r>
              <a:t>  - No command line or scripting knowledge required</a:t>
            </a:r>
          </a:p>
          <a:p>
            <a:r>
              <a:t>  - Point-and-click operation</a:t>
            </a:r>
          </a:p>
          <a:p>
            <a:endParaRPr/>
          </a:p>
          <a:p>
            <a:r>
              <a:t>• APPLICATION LAYER (Middle):</a:t>
            </a:r>
          </a:p>
          <a:p>
            <a:r>
              <a:t>  - Visual Interface (GUI) - Built with modern PyQt6 framework</a:t>
            </a:r>
          </a:p>
          <a:p>
            <a:r>
              <a:t>  - Clone Engine - Handles all database cloning logic</a:t>
            </a:r>
          </a:p>
          <a:p>
            <a:r>
              <a:t>  - Health Check Module - Monitors database performance</a:t>
            </a:r>
          </a:p>
          <a:p>
            <a:r>
              <a:t>  - Report Generator - Creates professional HTML reports</a:t>
            </a:r>
          </a:p>
          <a:p>
            <a:r>
              <a:t>  - Logging - Tracks all operations for audit trail</a:t>
            </a:r>
          </a:p>
          <a:p>
            <a:endParaRPr/>
          </a:p>
          <a:p>
            <a:r>
              <a:t>• DATABASE LAYER (Bottom):</a:t>
            </a:r>
          </a:p>
          <a:p>
            <a:r>
              <a:t>  - Source Database - Your production or source environment</a:t>
            </a:r>
          </a:p>
          <a:p>
            <a:r>
              <a:t>  - Target Database - Development, Test, or DR environment</a:t>
            </a:r>
          </a:p>
          <a:p>
            <a:r>
              <a:t>  - Secure network connection using Oracle protocols</a:t>
            </a:r>
          </a:p>
          <a:p>
            <a:endParaRPr/>
          </a:p>
          <a:p>
            <a:r>
              <a:t>• KEY POINT: All complexity is hidden in the application layer</a:t>
            </a:r>
          </a:p>
          <a:p>
            <a:r>
              <a:t>  - User sees simple buttons</a:t>
            </a:r>
          </a:p>
          <a:p>
            <a:r>
              <a:t>  - System handles all technical details automatically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POINTS - Detailed Component Architecture:</a:t>
            </a:r>
          </a:p>
          <a:p>
            <a:endParaRPr/>
          </a:p>
          <a:p>
            <a:r>
              <a:t>• Let's look deeper at the toolkit components</a:t>
            </a:r>
          </a:p>
          <a:p>
            <a:endParaRPr/>
          </a:p>
          <a:p>
            <a:r>
              <a:t>• USER INTERFACE (PyQt6):</a:t>
            </a:r>
          </a:p>
          <a:p>
            <a:r>
              <a:t>  - Health Check Tab - Run database health assessments</a:t>
            </a:r>
          </a:p>
          <a:p>
            <a:r>
              <a:t>  - PDB Clone Tab - Execute database cloning operations</a:t>
            </a:r>
          </a:p>
          <a:p>
            <a:r>
              <a:t>  - Progress Display - Real-time status updates</a:t>
            </a:r>
          </a:p>
          <a:p>
            <a:endParaRPr/>
          </a:p>
          <a:p>
            <a:r>
              <a:t>• CLONE MODULE (pdb_clone.py):</a:t>
            </a:r>
          </a:p>
          <a:p>
            <a:r>
              <a:t>  - Pre-check Validation - 6 automated compatibility checks</a:t>
            </a:r>
          </a:p>
          <a:p>
            <a:r>
              <a:t>  - Clone Execution - Secure database-to-database copy</a:t>
            </a:r>
          </a:p>
          <a:p>
            <a:r>
              <a:t>  - Post-check Verification - Confirms successful clone</a:t>
            </a:r>
          </a:p>
          <a:p>
            <a:endParaRPr/>
          </a:p>
          <a:p>
            <a:r>
              <a:t>• HEALTH MODULE (db_healthcheck.py):</a:t>
            </a:r>
          </a:p>
          <a:p>
            <a:r>
              <a:t>  - Performance Metrics - CPU, memory, I/O statistics</a:t>
            </a:r>
          </a:p>
          <a:p>
            <a:r>
              <a:t>  - Storage Analysis - Tablespace usage monitoring</a:t>
            </a:r>
          </a:p>
          <a:p>
            <a:r>
              <a:t>  - Error Detection - Identifies database issues</a:t>
            </a:r>
          </a:p>
          <a:p>
            <a:endParaRPr/>
          </a:p>
          <a:p>
            <a:r>
              <a:t>• REPORT GENERATOR:</a:t>
            </a:r>
          </a:p>
          <a:p>
            <a:r>
              <a:t>  - HTML Report Creation - Professional, readable output</a:t>
            </a:r>
          </a:p>
          <a:p>
            <a:r>
              <a:t>  - CSS Styling - Consistent branding</a:t>
            </a:r>
          </a:p>
          <a:p>
            <a:r>
              <a:t>  - Audit Documentation - Timestamped records</a:t>
            </a:r>
          </a:p>
          <a:p>
            <a:endParaRPr/>
          </a:p>
          <a:p>
            <a:r>
              <a:t>• CONNECTION LAYER:</a:t>
            </a:r>
          </a:p>
          <a:p>
            <a:r>
              <a:t>  - External Authentication - Windows SSO or Oracle Wallet</a:t>
            </a:r>
          </a:p>
          <a:p>
            <a:r>
              <a:t>  - Username/Password - Traditional authentication</a:t>
            </a:r>
          </a:p>
          <a:p>
            <a:r>
              <a:t>  - Thick/Thin Mode - Flexible connectivity options</a:t>
            </a:r>
          </a:p>
          <a:p>
            <a:endParaRPr/>
          </a:p>
          <a:p>
            <a:r>
              <a:t>• OUTPUTS: Four types of professional reports are generated automatically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POINTS - Automated Dynamic Workflow:</a:t>
            </a:r>
          </a:p>
          <a:p>
            <a:endParaRPr/>
          </a:p>
          <a:p>
            <a:r>
              <a:t>• THIS IS THE HEART OF OUR SOLUTION</a:t>
            </a:r>
          </a:p>
          <a:p>
            <a:endParaRPr/>
          </a:p>
          <a:p>
            <a:r>
              <a:t>• The workflow is fully automated with ZERO manual intervention:</a:t>
            </a:r>
          </a:p>
          <a:p>
            <a:endParaRPr/>
          </a:p>
          <a:p>
            <a:r>
              <a:t>1. START - User Initiates:</a:t>
            </a:r>
          </a:p>
          <a:p>
            <a:r>
              <a:t>   - Single click to begin the process</a:t>
            </a:r>
          </a:p>
          <a:p>
            <a:r>
              <a:t>   - No parameters to configure manually</a:t>
            </a:r>
          </a:p>
          <a:p>
            <a:endParaRPr/>
          </a:p>
          <a:p>
            <a:r>
              <a:t>2. AUTO-DETECT - Environment Scan:</a:t>
            </a:r>
          </a:p>
          <a:p>
            <a:r>
              <a:t>   - Automatically finds Oracle Client installation</a:t>
            </a:r>
          </a:p>
          <a:p>
            <a:r>
              <a:t>   - Detects network configuration</a:t>
            </a:r>
          </a:p>
          <a:p>
            <a:r>
              <a:t>   - Identifies available databases</a:t>
            </a:r>
          </a:p>
          <a:p>
            <a:endParaRPr/>
          </a:p>
          <a:p>
            <a:r>
              <a:t>3. VALIDATE - Smart Pre-Check:</a:t>
            </a:r>
          </a:p>
          <a:p>
            <a:r>
              <a:t>   - Runs 6 compatibility validations automatically</a:t>
            </a:r>
          </a:p>
          <a:p>
            <a:r>
              <a:t>   - Checks version, charset, TDE, storage, timezone, configuration</a:t>
            </a:r>
          </a:p>
          <a:p>
            <a:r>
              <a:t>   - Each check provides PASS/FAIL result</a:t>
            </a:r>
          </a:p>
          <a:p>
            <a:endParaRPr/>
          </a:p>
          <a:p>
            <a:r>
              <a:t>4. DECIDE - Dynamic Routing:</a:t>
            </a:r>
          </a:p>
          <a:p>
            <a:r>
              <a:t>   - This is the intelligent decision engine</a:t>
            </a:r>
          </a:p>
          <a:p>
            <a:r>
              <a:t>   - If ALL checks pass → PROCEED to clone</a:t>
            </a:r>
          </a:p>
          <a:p>
            <a:r>
              <a:t>   - If ANY check fails → RETRY with remediation guidance</a:t>
            </a:r>
          </a:p>
          <a:p>
            <a:r>
              <a:t>   - No manual decision making needed</a:t>
            </a:r>
          </a:p>
          <a:p>
            <a:endParaRPr/>
          </a:p>
          <a:p>
            <a:r>
              <a:t>5. EXECUTE - Auto Clone:</a:t>
            </a:r>
          </a:p>
          <a:p>
            <a:r>
              <a:t>   - Creates database link automatically</a:t>
            </a:r>
          </a:p>
          <a:p>
            <a:r>
              <a:t>   - Executes clone command</a:t>
            </a:r>
          </a:p>
          <a:p>
            <a:r>
              <a:t>   - Opens new database</a:t>
            </a:r>
          </a:p>
          <a:p>
            <a:r>
              <a:t>   - Saves state for persistence</a:t>
            </a:r>
          </a:p>
          <a:p>
            <a:endParaRPr/>
          </a:p>
          <a:p>
            <a:r>
              <a:t>6. VERIFY - Auto Post-Check:</a:t>
            </a:r>
          </a:p>
          <a:p>
            <a:r>
              <a:t>   - Compares source and target parameters</a:t>
            </a:r>
          </a:p>
          <a:p>
            <a:r>
              <a:t>   - Validates all services are running</a:t>
            </a:r>
          </a:p>
          <a:p>
            <a:r>
              <a:t>   - Generates completion report</a:t>
            </a:r>
          </a:p>
          <a:p>
            <a:endParaRPr/>
          </a:p>
          <a:p>
            <a:r>
              <a:t>• BOTTOM FEATURES explain the automation intelligence:</a:t>
            </a:r>
          </a:p>
          <a:p>
            <a:r>
              <a:t>  - Auto-Detection - No manual environment setup</a:t>
            </a:r>
          </a:p>
          <a:p>
            <a:r>
              <a:t>  - Smart Validation - Hints for fixing issues</a:t>
            </a:r>
          </a:p>
          <a:p>
            <a:r>
              <a:t>  - Dynamic Routing - Adapts to validation results</a:t>
            </a:r>
          </a:p>
          <a:p>
            <a:r>
              <a:t>  - Self-Documenting - All reports generated automatically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POINTS - Step 1: Pre-Check Validation:</a:t>
            </a:r>
          </a:p>
          <a:p>
            <a:endParaRPr/>
          </a:p>
          <a:p>
            <a:r>
              <a:t>• The Pre-Check is your safety net before cloning</a:t>
            </a:r>
          </a:p>
          <a:p>
            <a:endParaRPr/>
          </a:p>
          <a:p>
            <a:r>
              <a:t>• SIX AUTOMATED VALIDATIONS:</a:t>
            </a:r>
          </a:p>
          <a:p>
            <a:endParaRPr/>
          </a:p>
          <a:p>
            <a:r>
              <a:t>1. Database Version:</a:t>
            </a:r>
          </a:p>
          <a:p>
            <a:r>
              <a:t>   - Ensures source and target are same Oracle version</a:t>
            </a:r>
          </a:p>
          <a:p>
            <a:r>
              <a:t>   - Version mismatch = clone will fail</a:t>
            </a:r>
          </a:p>
          <a:p>
            <a:r>
              <a:t>   - We catch this BEFORE wasting time</a:t>
            </a:r>
          </a:p>
          <a:p>
            <a:endParaRPr/>
          </a:p>
          <a:p>
            <a:r>
              <a:t>2. Character Set:</a:t>
            </a:r>
          </a:p>
          <a:p>
            <a:r>
              <a:t>   - Confirms text encoding matches (UTF8, etc.)</a:t>
            </a:r>
          </a:p>
          <a:p>
            <a:r>
              <a:t>   - Different charsets = data corruption risk</a:t>
            </a:r>
          </a:p>
          <a:p>
            <a:r>
              <a:t>   - Critical for international data</a:t>
            </a:r>
          </a:p>
          <a:p>
            <a:endParaRPr/>
          </a:p>
          <a:p>
            <a:r>
              <a:t>3. Storage Space:</a:t>
            </a:r>
          </a:p>
          <a:p>
            <a:r>
              <a:t>   - Verifies target has enough disk space</a:t>
            </a:r>
          </a:p>
          <a:p>
            <a:r>
              <a:t>   - Checks current database size vs available space</a:t>
            </a:r>
          </a:p>
          <a:p>
            <a:r>
              <a:t>   - Prevents "out of space" failures mid-clone</a:t>
            </a:r>
          </a:p>
          <a:p>
            <a:endParaRPr/>
          </a:p>
          <a:p>
            <a:r>
              <a:t>4. Security (TDE):</a:t>
            </a:r>
          </a:p>
          <a:p>
            <a:r>
              <a:t>   - Checks encryption settings match</a:t>
            </a:r>
          </a:p>
          <a:p>
            <a:r>
              <a:t>   - Transparent Data Encryption must align</a:t>
            </a:r>
          </a:p>
          <a:p>
            <a:r>
              <a:t>   - Security compliance requirement</a:t>
            </a:r>
          </a:p>
          <a:p>
            <a:endParaRPr/>
          </a:p>
          <a:p>
            <a:r>
              <a:t>5. Timezone:</a:t>
            </a:r>
          </a:p>
          <a:p>
            <a:r>
              <a:t>   - Confirms time settings are aligned</a:t>
            </a:r>
          </a:p>
          <a:p>
            <a:r>
              <a:t>   - Important for timestamp data integrity</a:t>
            </a:r>
          </a:p>
          <a:p>
            <a:r>
              <a:t>   - Prevents scheduling issues</a:t>
            </a:r>
          </a:p>
          <a:p>
            <a:endParaRPr/>
          </a:p>
          <a:p>
            <a:r>
              <a:t>6. Configuration:</a:t>
            </a:r>
          </a:p>
          <a:p>
            <a:r>
              <a:t>   - Compares database parameters</a:t>
            </a:r>
          </a:p>
          <a:p>
            <a:r>
              <a:t>   - Identifies potential conflicts</a:t>
            </a:r>
          </a:p>
          <a:p>
            <a:r>
              <a:t>   - Ensures compatibility</a:t>
            </a:r>
          </a:p>
          <a:p>
            <a:endParaRPr/>
          </a:p>
          <a:p>
            <a:r>
              <a:t>• OUTPUT: HTML Pre-Check Report with PASS/FAIL for each validation</a:t>
            </a:r>
          </a:p>
          <a:p>
            <a:r>
              <a:t>  - Green checkmarks = safe to proceed</a:t>
            </a:r>
          </a:p>
          <a:p>
            <a:r>
              <a:t>  - Red X marks = must resolve before cloning</a:t>
            </a:r>
          </a:p>
          <a:p>
            <a:r>
              <a:t>  - Specific guidance provided for failures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TALK POINTS - Step 2: Clone Execution:</a:t>
            </a:r>
          </a:p>
          <a:p>
            <a:endParaRPr dirty="0"/>
          </a:p>
          <a:p>
            <a:r>
              <a:rPr dirty="0"/>
              <a:t>• This is where the actual database copy happens</a:t>
            </a:r>
          </a:p>
          <a:p>
            <a:endParaRPr dirty="0"/>
          </a:p>
          <a:p>
            <a:r>
              <a:rPr dirty="0"/>
              <a:t>• AUTOMATED PROCESS FLOW:</a:t>
            </a:r>
          </a:p>
          <a:p>
            <a:endParaRPr dirty="0"/>
          </a:p>
          <a:p>
            <a:r>
              <a:rPr dirty="0"/>
              <a:t>  SOURCE DATABASE (Production)</a:t>
            </a:r>
          </a:p>
          <a:p>
            <a:r>
              <a:rPr dirty="0"/>
              <a:t>      ↓</a:t>
            </a:r>
          </a:p>
          <a:p>
            <a:r>
              <a:rPr dirty="0"/>
              <a:t>  CLONE PROCESS</a:t>
            </a:r>
          </a:p>
          <a:p>
            <a:r>
              <a:rPr dirty="0"/>
              <a:t>      ↓</a:t>
            </a:r>
          </a:p>
          <a:p>
            <a:r>
              <a:rPr dirty="0"/>
              <a:t>  TARGET DATABASE (Dev/Test)</a:t>
            </a:r>
          </a:p>
          <a:p>
            <a:endParaRPr dirty="0"/>
          </a:p>
          <a:p>
            <a:r>
              <a:rPr dirty="0"/>
              <a:t>• FOUR AUTOMATIC STEPS:</a:t>
            </a:r>
          </a:p>
          <a:p>
            <a:endParaRPr dirty="0"/>
          </a:p>
          <a:p>
            <a:r>
              <a:rPr dirty="0"/>
              <a:t>1. Create Database Link:</a:t>
            </a:r>
          </a:p>
          <a:p>
            <a:r>
              <a:rPr dirty="0"/>
              <a:t>   - Establishes secure connection between source and target</a:t>
            </a:r>
          </a:p>
          <a:p>
            <a:r>
              <a:rPr dirty="0"/>
              <a:t>   - Uses external authentication (no passwords in scripts)</a:t>
            </a:r>
          </a:p>
          <a:p>
            <a:r>
              <a:rPr dirty="0"/>
              <a:t>   - Connection verified before proceeding</a:t>
            </a:r>
          </a:p>
          <a:p>
            <a:endParaRPr dirty="0"/>
          </a:p>
          <a:p>
            <a:r>
              <a:rPr dirty="0"/>
              <a:t>2. Execute Clone Command:</a:t>
            </a:r>
          </a:p>
          <a:p>
            <a:r>
              <a:rPr dirty="0"/>
              <a:t>   - Uses Oracle's native PDB clone capability</a:t>
            </a:r>
          </a:p>
          <a:p>
            <a:r>
              <a:rPr dirty="0"/>
              <a:t>   - Efficient block-level copy</a:t>
            </a:r>
          </a:p>
          <a:p>
            <a:r>
              <a:rPr dirty="0"/>
              <a:t>   - Progress tracked in real-time</a:t>
            </a:r>
          </a:p>
          <a:p>
            <a:endParaRPr dirty="0"/>
          </a:p>
          <a:p>
            <a:r>
              <a:rPr dirty="0"/>
              <a:t>3. Open New Database:</a:t>
            </a:r>
          </a:p>
          <a:p>
            <a:r>
              <a:rPr dirty="0"/>
              <a:t>   - New PDB is opened for use</a:t>
            </a:r>
          </a:p>
          <a:p>
            <a:r>
              <a:rPr dirty="0"/>
              <a:t>   - Services are started automatically</a:t>
            </a:r>
          </a:p>
          <a:p>
            <a:r>
              <a:rPr dirty="0"/>
              <a:t>   - Connection testing performed</a:t>
            </a:r>
          </a:p>
          <a:p>
            <a:endParaRPr dirty="0"/>
          </a:p>
          <a:p>
            <a:r>
              <a:rPr dirty="0"/>
              <a:t>4. Save State:</a:t>
            </a:r>
          </a:p>
          <a:p>
            <a:r>
              <a:rPr dirty="0"/>
              <a:t>   - Ensures database survives restarts</a:t>
            </a:r>
          </a:p>
          <a:p>
            <a:r>
              <a:rPr dirty="0"/>
              <a:t>   - Configuration persisted</a:t>
            </a:r>
          </a:p>
          <a:p>
            <a:r>
              <a:rPr dirty="0"/>
              <a:t>   - Ready for immediate use</a:t>
            </a:r>
          </a:p>
          <a:p>
            <a:endParaRPr dirty="0"/>
          </a:p>
          <a:p>
            <a:r>
              <a:rPr dirty="0"/>
              <a:t>• REAL-TIME PROGRESS:</a:t>
            </a:r>
          </a:p>
          <a:p>
            <a:r>
              <a:rPr dirty="0"/>
              <a:t>  - The GUI shows exactly what's happening</a:t>
            </a:r>
          </a:p>
          <a:p>
            <a:r>
              <a:rPr dirty="0"/>
              <a:t>  - Percentage complete indicator</a:t>
            </a:r>
          </a:p>
          <a:p>
            <a:r>
              <a:rPr dirty="0"/>
              <a:t>  - Estimated time remaining</a:t>
            </a:r>
          </a:p>
          <a:p>
            <a:r>
              <a:rPr dirty="0"/>
              <a:t>  - No guesswork for the operator</a:t>
            </a:r>
          </a:p>
          <a:p>
            <a:endParaRPr dirty="0"/>
          </a:p>
          <a:p>
            <a:r>
              <a:rPr dirty="0"/>
              <a:t>• OUTPUT: New database created, opened, and ready for use!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POINTS - Step 3: Post-Check Verification:</a:t>
            </a:r>
          </a:p>
          <a:p>
            <a:endParaRPr/>
          </a:p>
          <a:p>
            <a:r>
              <a:t>• The Post-Check confirms your clone is perfect</a:t>
            </a:r>
          </a:p>
          <a:p>
            <a:endParaRPr/>
          </a:p>
          <a:p>
            <a:r>
              <a:t>• AUTOMATIC COMPARISON:</a:t>
            </a:r>
          </a:p>
          <a:p>
            <a:endParaRPr/>
          </a:p>
          <a:p>
            <a:r>
              <a:t>  SOURCE (Original)     =     TARGET (New Copy)</a:t>
            </a:r>
          </a:p>
          <a:p>
            <a:endParaRPr/>
          </a:p>
          <a:p>
            <a:r>
              <a:t>• WHAT WE VERIFY:</a:t>
            </a:r>
          </a:p>
          <a:p>
            <a:endParaRPr/>
          </a:p>
          <a:p>
            <a:r>
              <a:t>1. Database Size:</a:t>
            </a:r>
          </a:p>
          <a:p>
            <a:r>
              <a:t>   - Should match exactly (or within expected variance)</a:t>
            </a:r>
          </a:p>
          <a:p>
            <a:r>
              <a:t>   - Example: 45.73 GB → 45.73 GB ✓</a:t>
            </a:r>
          </a:p>
          <a:p>
            <a:endParaRPr/>
          </a:p>
          <a:p>
            <a:r>
              <a:t>2. Parameters:</a:t>
            </a:r>
          </a:p>
          <a:p>
            <a:r>
              <a:t>   - All 127 custom parameters compared</a:t>
            </a:r>
          </a:p>
          <a:p>
            <a:r>
              <a:t>   - Any differences flagged for review</a:t>
            </a:r>
          </a:p>
          <a:p>
            <a:r>
              <a:t>   - Ensures identical configuration</a:t>
            </a:r>
          </a:p>
          <a:p>
            <a:endParaRPr/>
          </a:p>
          <a:p>
            <a:r>
              <a:t>3. Services:</a:t>
            </a:r>
          </a:p>
          <a:p>
            <a:r>
              <a:t>   - All database services checked</a:t>
            </a:r>
          </a:p>
          <a:p>
            <a:r>
              <a:t>   - Confirms they started correctly</a:t>
            </a:r>
          </a:p>
          <a:p>
            <a:r>
              <a:t>   - Ready for application connections</a:t>
            </a:r>
          </a:p>
          <a:p>
            <a:endParaRPr/>
          </a:p>
          <a:p>
            <a:r>
              <a:t>4. Status:</a:t>
            </a:r>
          </a:p>
          <a:p>
            <a:r>
              <a:t>   - READ WRITE mode verified</a:t>
            </a:r>
          </a:p>
          <a:p>
            <a:r>
              <a:t>   - Database is fully operational</a:t>
            </a:r>
          </a:p>
          <a:p>
            <a:r>
              <a:t>   - Ready for development/testing use</a:t>
            </a:r>
          </a:p>
          <a:p>
            <a:endParaRPr/>
          </a:p>
          <a:p>
            <a:r>
              <a:t>• THE EQUALS SIGN in the middle represents our validation:</a:t>
            </a:r>
          </a:p>
          <a:p>
            <a:r>
              <a:t>  - Every parameter compared automatically</a:t>
            </a:r>
          </a:p>
          <a:p>
            <a:r>
              <a:t>  - Checkmarks show successful matches</a:t>
            </a:r>
          </a:p>
          <a:p>
            <a:r>
              <a:t>  - Any mismatches would be highlighted in red</a:t>
            </a:r>
          </a:p>
          <a:p>
            <a:endParaRPr/>
          </a:p>
          <a:p>
            <a:r>
              <a:t>• OUTPUT: Post-Check Report (HTML)</a:t>
            </a:r>
          </a:p>
          <a:p>
            <a:r>
              <a:t>  - Complete audit documentation</a:t>
            </a:r>
          </a:p>
          <a:p>
            <a:r>
              <a:t>  - Side-by-side comparison</a:t>
            </a:r>
          </a:p>
          <a:p>
            <a:r>
              <a:t>  - Timestamped for compliance</a:t>
            </a:r>
          </a:p>
          <a:p>
            <a:r>
              <a:t>  - Ready for audit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POINTS - Requirements:</a:t>
            </a:r>
          </a:p>
          <a:p>
            <a:endParaRPr/>
          </a:p>
          <a:p>
            <a:r>
              <a:t>• Good news: Requirements are minimal!</a:t>
            </a:r>
          </a:p>
          <a:p>
            <a:endParaRPr/>
          </a:p>
          <a:p>
            <a:r>
              <a:t>• SOFTWARE REQUIREMENTS:</a:t>
            </a:r>
          </a:p>
          <a:p>
            <a:r>
              <a:t>  - Python 3.8+ (free, open source)</a:t>
            </a:r>
          </a:p>
          <a:p>
            <a:r>
              <a:t>  - Oracle Client libraries (you likely have these already)</a:t>
            </a:r>
          </a:p>
          <a:p>
            <a:r>
              <a:t>  - Works on Windows, Linux, and Mac</a:t>
            </a:r>
          </a:p>
          <a:p>
            <a:endParaRPr/>
          </a:p>
          <a:p>
            <a:r>
              <a:t>• DATABASE REQUIREMENTS:</a:t>
            </a:r>
          </a:p>
          <a:p>
            <a:r>
              <a:t>  - Oracle 19c, 21c, 23ai, or 26ai</a:t>
            </a:r>
          </a:p>
          <a:p>
            <a:r>
              <a:t>  - DBA access permissions on both source and target</a:t>
            </a:r>
          </a:p>
          <a:p>
            <a:r>
              <a:t>  - Network connectivity between environments</a:t>
            </a:r>
          </a:p>
          <a:p>
            <a:endParaRPr/>
          </a:p>
          <a:p>
            <a:r>
              <a:t>• SECURITY OPTIONS (choose one):</a:t>
            </a:r>
          </a:p>
          <a:p>
            <a:r>
              <a:t>  - Windows SSO Authentication - Use your Windows login</a:t>
            </a:r>
          </a:p>
          <a:p>
            <a:r>
              <a:t>  - Oracle Wallet - Secure credential storage</a:t>
            </a:r>
          </a:p>
          <a:p>
            <a:r>
              <a:t>  - Username/Password - Traditional authentication</a:t>
            </a:r>
          </a:p>
          <a:p>
            <a:endParaRPr/>
          </a:p>
          <a:p>
            <a:r>
              <a:t>• NO ADDITIONAL HARDWARE:</a:t>
            </a:r>
          </a:p>
          <a:p>
            <a:r>
              <a:t>  - Runs on any standard workstation</a:t>
            </a:r>
          </a:p>
          <a:p>
            <a:r>
              <a:t>  - No special servers needed</a:t>
            </a:r>
          </a:p>
          <a:p>
            <a:r>
              <a:t>  - No additional infrastructure costs</a:t>
            </a:r>
          </a:p>
          <a:p>
            <a:r>
              <a:t>  - Can run from DBA's existing computer</a:t>
            </a:r>
          </a:p>
          <a:p>
            <a:endParaRPr/>
          </a:p>
          <a:p>
            <a:r>
              <a:t>• IMPORTANT: If you can connect to your databases with SQL*Plus today,</a:t>
            </a:r>
          </a:p>
          <a:p>
            <a:r>
              <a:t>  this toolkit will work for you</a:t>
            </a:r>
          </a:p>
          <a:p>
            <a:endParaRPr/>
          </a:p>
          <a:p>
            <a:r>
              <a:t>• Installation typically completed in under 30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POINTS - Business Benefits:</a:t>
            </a:r>
          </a:p>
          <a:p>
            <a:endParaRPr/>
          </a:p>
          <a:p>
            <a:r>
              <a:t>• Let me summarize the key benefits:</a:t>
            </a:r>
          </a:p>
          <a:p>
            <a:endParaRPr/>
          </a:p>
          <a:p>
            <a:r>
              <a:t>1. REDUCE ERRORS:</a:t>
            </a:r>
          </a:p>
          <a:p>
            <a:r>
              <a:t>   - Automated checks prevent human mistakes</a:t>
            </a:r>
          </a:p>
          <a:p>
            <a:r>
              <a:t>   - Validation happens before any changes</a:t>
            </a:r>
          </a:p>
          <a:p>
            <a:r>
              <a:t>   - No more "oops, I forgot to check that"</a:t>
            </a:r>
          </a:p>
          <a:p>
            <a:endParaRPr/>
          </a:p>
          <a:p>
            <a:r>
              <a:t>2. SAVE TIME:</a:t>
            </a:r>
          </a:p>
          <a:p>
            <a:r>
              <a:t>   - What took hours now takes minutes</a:t>
            </a:r>
          </a:p>
          <a:p>
            <a:r>
              <a:t>   - DBAs freed for strategic work</a:t>
            </a:r>
          </a:p>
          <a:p>
            <a:r>
              <a:t>   - Development teams get environments faster</a:t>
            </a:r>
          </a:p>
          <a:p>
            <a:endParaRPr/>
          </a:p>
          <a:p>
            <a:r>
              <a:t>3. AUDIT READY:</a:t>
            </a:r>
          </a:p>
          <a:p>
            <a:r>
              <a:t>   - Professional HTML reports generated automatically</a:t>
            </a:r>
          </a:p>
          <a:p>
            <a:r>
              <a:t>   - Timestamps and details for compliance</a:t>
            </a:r>
          </a:p>
          <a:p>
            <a:r>
              <a:t>   - Complete documentation trail</a:t>
            </a:r>
          </a:p>
          <a:p>
            <a:endParaRPr/>
          </a:p>
          <a:p>
            <a:r>
              <a:t>4. LOWER RISK:</a:t>
            </a:r>
          </a:p>
          <a:p>
            <a:r>
              <a:t>   - Validated, repeatable process every time</a:t>
            </a:r>
          </a:p>
          <a:p>
            <a:r>
              <a:t>   - Same steps executed consistently</a:t>
            </a:r>
          </a:p>
          <a:p>
            <a:r>
              <a:t>   - No variation between operators</a:t>
            </a:r>
          </a:p>
          <a:p>
            <a:endParaRPr/>
          </a:p>
          <a:p>
            <a:r>
              <a:t>5. EASY TO USE:</a:t>
            </a:r>
          </a:p>
          <a:p>
            <a:r>
              <a:t>   - Visual interface - no coding required</a:t>
            </a:r>
          </a:p>
          <a:p>
            <a:r>
              <a:t>   - Point and click operation</a:t>
            </a:r>
          </a:p>
          <a:p>
            <a:r>
              <a:t>   - Minimal training needed</a:t>
            </a:r>
          </a:p>
          <a:p>
            <a:endParaRPr/>
          </a:p>
          <a:p>
            <a:r>
              <a:t>6. COST EFFECTIVE:</a:t>
            </a:r>
          </a:p>
          <a:p>
            <a:r>
              <a:t>   - Built with free, open-source tools</a:t>
            </a:r>
          </a:p>
          <a:p>
            <a:r>
              <a:t>   - No licensing fees</a:t>
            </a:r>
          </a:p>
          <a:p>
            <a:r>
              <a:t>   - No additional hardware costs</a:t>
            </a:r>
          </a:p>
          <a:p>
            <a:endParaRPr/>
          </a:p>
          <a:p>
            <a:r>
              <a:t>• BOTTOM LINE: Better quality, faster delivery, lower risk, documented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POINTS - Database Health Checks:</a:t>
            </a:r>
          </a:p>
          <a:p>
            <a:endParaRPr/>
          </a:p>
          <a:p>
            <a:r>
              <a:t>• The toolkit includes a BONUS feature: Database Health Monitoring</a:t>
            </a:r>
          </a:p>
          <a:p>
            <a:endParaRPr/>
          </a:p>
          <a:p>
            <a:r>
              <a:t>• PERFORMANCE METRICS:</a:t>
            </a:r>
          </a:p>
          <a:p>
            <a:r>
              <a:t>  - CPU utilization tracking</a:t>
            </a:r>
          </a:p>
          <a:p>
            <a:r>
              <a:t>  - Memory usage analysis</a:t>
            </a:r>
          </a:p>
          <a:p>
            <a:r>
              <a:t>  - I/O throughput monitoring</a:t>
            </a:r>
          </a:p>
          <a:p>
            <a:r>
              <a:t>  - Session activity reporting</a:t>
            </a:r>
          </a:p>
          <a:p>
            <a:r>
              <a:t>  - Identifies slow queries automatically</a:t>
            </a:r>
          </a:p>
          <a:p>
            <a:r>
              <a:t>  - Highlights resource bottlenecks</a:t>
            </a:r>
          </a:p>
          <a:p>
            <a:endParaRPr/>
          </a:p>
          <a:p>
            <a:r>
              <a:t>• STORAGE MONITORING:</a:t>
            </a:r>
          </a:p>
          <a:p>
            <a:r>
              <a:t>  - Tablespace usage percentages</a:t>
            </a:r>
          </a:p>
          <a:p>
            <a:r>
              <a:t>  - Growth trend analysis</a:t>
            </a:r>
          </a:p>
          <a:p>
            <a:r>
              <a:t>  - Warning alerts before space runs out</a:t>
            </a:r>
          </a:p>
          <a:p>
            <a:r>
              <a:t>  - Helps prevent "tablespace full" emergencies</a:t>
            </a:r>
          </a:p>
          <a:p>
            <a:endParaRPr/>
          </a:p>
          <a:p>
            <a:r>
              <a:t>• ERROR DETECTION:</a:t>
            </a:r>
          </a:p>
          <a:p>
            <a:r>
              <a:t>  - Scans Oracle alert logs automatically</a:t>
            </a:r>
          </a:p>
          <a:p>
            <a:r>
              <a:t>  - Identifies ORA- errors</a:t>
            </a:r>
          </a:p>
          <a:p>
            <a:r>
              <a:t>  - Summarizes recent issues</a:t>
            </a:r>
          </a:p>
          <a:p>
            <a:r>
              <a:t>  - Helps with proactive problem resolution</a:t>
            </a:r>
          </a:p>
          <a:p>
            <a:endParaRPr/>
          </a:p>
          <a:p>
            <a:r>
              <a:t>• REPORT OUTPUT:</a:t>
            </a:r>
          </a:p>
          <a:p>
            <a:r>
              <a:t>  - Professional HTML health report</a:t>
            </a:r>
          </a:p>
          <a:p>
            <a:r>
              <a:t>  - Color-coded status indicators</a:t>
            </a:r>
          </a:p>
          <a:p>
            <a:r>
              <a:t>  - Suitable for management review</a:t>
            </a:r>
          </a:p>
          <a:p>
            <a:r>
              <a:t>  - Can be scheduled or run on-demand</a:t>
            </a:r>
          </a:p>
          <a:p>
            <a:endParaRPr/>
          </a:p>
          <a:p>
            <a:r>
              <a:t>• USE CASES:</a:t>
            </a:r>
          </a:p>
          <a:p>
            <a:r>
              <a:t>  - Regular health check of production databases</a:t>
            </a:r>
          </a:p>
          <a:p>
            <a:r>
              <a:t>  - Pre-clone validation of source database</a:t>
            </a:r>
          </a:p>
          <a:p>
            <a:r>
              <a:t>  - Post-clone verification of target database</a:t>
            </a:r>
          </a:p>
          <a:p>
            <a:r>
              <a:t>  - Troubleshooting performance issues</a:t>
            </a:r>
          </a:p>
          <a:p>
            <a:endParaRPr/>
          </a:p>
          <a:p>
            <a:r>
              <a:t>• This feature adds ongoing value beyond just cloning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POINTS - Summary &amp; Next Steps:</a:t>
            </a:r>
          </a:p>
          <a:p>
            <a:endParaRPr/>
          </a:p>
          <a:p>
            <a:r>
              <a:t>• Let's recap what we've covered today:</a:t>
            </a:r>
          </a:p>
          <a:p>
            <a:endParaRPr/>
          </a:p>
          <a:p>
            <a:r>
              <a:t>• THE TOOLKIT PROVIDES:</a:t>
            </a:r>
          </a:p>
          <a:p>
            <a:r>
              <a:t>  - Automated dynamic workflow - not just automation, but INTELLIGENT automation</a:t>
            </a:r>
          </a:p>
          <a:p>
            <a:r>
              <a:t>  - The system adapts to your environment automatically</a:t>
            </a:r>
          </a:p>
          <a:p>
            <a:r>
              <a:t>  - Zero manual intervention required</a:t>
            </a:r>
          </a:p>
          <a:p>
            <a:r>
              <a:t>  - Professional reports for audit compliance</a:t>
            </a:r>
          </a:p>
          <a:p>
            <a:r>
              <a:t>  - Built-in health monitoring capability</a:t>
            </a:r>
          </a:p>
          <a:p>
            <a:endParaRPr/>
          </a:p>
          <a:p>
            <a:r>
              <a:t>• BUSINESS VALUE:</a:t>
            </a:r>
          </a:p>
          <a:p>
            <a:r>
              <a:t>  - Reduces clone time from hours to minutes</a:t>
            </a:r>
          </a:p>
          <a:p>
            <a:r>
              <a:t>  - Eliminates human error</a:t>
            </a:r>
          </a:p>
          <a:p>
            <a:r>
              <a:t>  - Provides complete documentation</a:t>
            </a:r>
          </a:p>
          <a:p>
            <a:r>
              <a:t>  - Frees DBA time for strategic work</a:t>
            </a:r>
          </a:p>
          <a:p>
            <a:endParaRPr/>
          </a:p>
          <a:p>
            <a:r>
              <a:t>• RECOMMENDED NEXT STEPS:</a:t>
            </a:r>
          </a:p>
          <a:p>
            <a:endParaRPr/>
          </a:p>
          <a:p>
            <a:r>
              <a:t>1. Review Requirements with IT Team:</a:t>
            </a:r>
          </a:p>
          <a:p>
            <a:r>
              <a:t>   - Confirm Python availability</a:t>
            </a:r>
          </a:p>
          <a:p>
            <a:r>
              <a:t>   - Verify Oracle Client access</a:t>
            </a:r>
          </a:p>
          <a:p>
            <a:r>
              <a:t>   - Discuss authentication approach (SSO vs Wallet)</a:t>
            </a:r>
          </a:p>
          <a:p>
            <a:endParaRPr/>
          </a:p>
          <a:p>
            <a:r>
              <a:t>2. Identify Pilot Databases:</a:t>
            </a:r>
          </a:p>
          <a:p>
            <a:r>
              <a:t>   - Select non-production databases for initial testing</a:t>
            </a:r>
          </a:p>
          <a:p>
            <a:r>
              <a:t>   - Recommend starting with Dev-to-Dev clone</a:t>
            </a:r>
          </a:p>
          <a:p>
            <a:r>
              <a:t>   - Build confidence before production use</a:t>
            </a:r>
          </a:p>
          <a:p>
            <a:endParaRPr/>
          </a:p>
          <a:p>
            <a:r>
              <a:t>3. Schedule Installation and Training:</a:t>
            </a:r>
          </a:p>
          <a:p>
            <a:r>
              <a:t>   - Installation takes about 30 minutes</a:t>
            </a:r>
          </a:p>
          <a:p>
            <a:r>
              <a:t>   - Training session for DBA team</a:t>
            </a:r>
          </a:p>
          <a:p>
            <a:r>
              <a:t>   - Documentation provided</a:t>
            </a:r>
          </a:p>
          <a:p>
            <a:endParaRPr/>
          </a:p>
          <a:p>
            <a:r>
              <a:t>• QUESTIONS?</a:t>
            </a:r>
          </a:p>
          <a:p>
            <a:r>
              <a:t>  - I'm happy to answer any questions</a:t>
            </a:r>
          </a:p>
          <a:p>
            <a:r>
              <a:t>  - We can schedule a demo if helpful</a:t>
            </a:r>
          </a:p>
          <a:p>
            <a:r>
              <a:t>  - Contact information available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POINTS - Thank You:</a:t>
            </a:r>
          </a:p>
          <a:p>
            <a:endParaRPr/>
          </a:p>
          <a:p>
            <a:r>
              <a:t>• Thank you for your time and attention today</a:t>
            </a:r>
          </a:p>
          <a:p>
            <a:endParaRPr/>
          </a:p>
          <a:p>
            <a:r>
              <a:t>• KEY TAKEAWAYS:</a:t>
            </a:r>
          </a:p>
          <a:p>
            <a:r>
              <a:t>  - The Oracle PDB Management Toolkit transforms database cloning</a:t>
            </a:r>
          </a:p>
          <a:p>
            <a:r>
              <a:t>  - Automated dynamic workflow eliminates manual steps</a:t>
            </a:r>
          </a:p>
          <a:p>
            <a:r>
              <a:t>  - Professional reports ensure compliance</a:t>
            </a:r>
          </a:p>
          <a:p>
            <a:r>
              <a:t>  - Easy to use, easy to deploy</a:t>
            </a:r>
          </a:p>
          <a:p>
            <a:endParaRPr/>
          </a:p>
          <a:p>
            <a:r>
              <a:t>• CONTACT &amp; NEXT STEPS:</a:t>
            </a:r>
          </a:p>
          <a:p>
            <a:r>
              <a:t>  - I'm available for questions now</a:t>
            </a:r>
          </a:p>
          <a:p>
            <a:r>
              <a:t>  - We can schedule a live demonstration</a:t>
            </a:r>
          </a:p>
          <a:p>
            <a:r>
              <a:t>  - Pilot program available for interested teams</a:t>
            </a:r>
          </a:p>
          <a:p>
            <a:endParaRPr/>
          </a:p>
          <a:p>
            <a:r>
              <a:t>• RESOURCES:</a:t>
            </a:r>
          </a:p>
          <a:p>
            <a:r>
              <a:t>  - Full documentation included with toolkit</a:t>
            </a:r>
          </a:p>
          <a:p>
            <a:r>
              <a:t>  - Quick Start Guide for rapid deployment</a:t>
            </a:r>
          </a:p>
          <a:p>
            <a:r>
              <a:t>  - Support available during implementation</a:t>
            </a:r>
          </a:p>
          <a:p>
            <a:endParaRPr/>
          </a:p>
          <a:p>
            <a:r>
              <a:t>• Thank you again for considering this solution</a:t>
            </a:r>
          </a:p>
          <a:p>
            <a:r>
              <a:t>  - We're confident it will add significant value to your database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</a:defRPr>
            </a:pPr>
            <a:r>
              <a:t>Oracle PDB Management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Automated Dynamic Workflow for Database Cloning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74F00"/>
                </a:solidFill>
              </a:defRPr>
            </a:pPr>
            <a:r>
              <a:t>Version 2.0.0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An automated software tool that dynamically manages Oracle database cloning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Replaces hours of manual technical work with an intelligent 3-step workflow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Automatically detects environment and adapts to configuration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Dynamic decision engine routes workflow based on validation results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Generates professional reports automatically for compliance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Zero manual intervention required - fully automated end-to-end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The Business 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Copying Oracle databases between environments is complex and risky</a:t>
            </a:r>
          </a:p>
          <a:p>
            <a:pPr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   Manual process requires deep technical expertise</a:t>
            </a:r>
          </a:p>
          <a:p>
            <a:pPr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   Multiple compatibility checks must be performed correctly</a:t>
            </a:r>
          </a:p>
          <a:p>
            <a:pPr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   Errors can cause database failures and downtime</a:t>
            </a:r>
          </a:p>
          <a:p>
            <a:pPr>
              <a:spcAft>
                <a:spcPts val="1000"/>
              </a:spcAft>
              <a:defRPr sz="1200"/>
            </a:pPr>
            <a:endParaRPr/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Current challenges:</a:t>
            </a:r>
          </a:p>
          <a:p>
            <a:pPr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   No standardized process leads to inconsistent results</a:t>
            </a:r>
          </a:p>
          <a:p>
            <a:pPr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   Documentation is often incomplete or missing</a:t>
            </a:r>
          </a:p>
          <a:p>
            <a:pPr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   Troubleshooting failures is time-consuming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System 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4552" cy="11887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USER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83080"/>
            <a:ext cx="164592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34490" y="1920240"/>
            <a:ext cx="205739" cy="205739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34490" y="1965960"/>
            <a:ext cx="205739" cy="1142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17420"/>
            <a:ext cx="1554480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Database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8288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The DBA uses the visual interface to manage database operations without complex commands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52160" y="2606040"/>
            <a:ext cx="365760" cy="320040"/>
          </a:xfrm>
          <a:prstGeom prst="downArrow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11274552" cy="146304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74F00"/>
                </a:solidFill>
              </a:defRPr>
            </a:pPr>
            <a:r>
              <a:t>APPLICATION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219456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91640" y="3566160"/>
            <a:ext cx="274320" cy="274320"/>
          </a:xfrm>
          <a:prstGeom prst="ellipse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91640" y="3611879"/>
            <a:ext cx="27432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31920"/>
            <a:ext cx="21031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Visual Interface</a:t>
            </a:r>
            <a:br/>
            <a:r>
              <a:t>(GUI)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429000"/>
            <a:ext cx="219456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160520" y="3566160"/>
            <a:ext cx="274320" cy="274320"/>
          </a:xfrm>
          <a:prstGeom prst="ellipse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60520" y="3611879"/>
            <a:ext cx="27432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931920"/>
            <a:ext cx="21031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Clone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3429000"/>
            <a:ext cx="219456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629400" y="3566160"/>
            <a:ext cx="274320" cy="274320"/>
          </a:xfrm>
          <a:prstGeom prst="ellipse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9400" y="3611879"/>
            <a:ext cx="27432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3931920"/>
            <a:ext cx="21031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Health Check</a:t>
            </a:r>
            <a:br/>
            <a:r>
              <a:t>Module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429000"/>
            <a:ext cx="219456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098280" y="3566160"/>
            <a:ext cx="274320" cy="274320"/>
          </a:xfrm>
          <a:prstGeom prst="ellipse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98280" y="3611879"/>
            <a:ext cx="27432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3931920"/>
            <a:ext cx="21031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Report</a:t>
            </a:r>
            <a:br/>
            <a:r>
              <a:t>Generator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07040" y="3429000"/>
            <a:ext cx="100584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972800" y="3566160"/>
            <a:ext cx="274320" cy="274320"/>
          </a:xfrm>
          <a:prstGeom prst="ellipse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0" y="3611879"/>
            <a:ext cx="274320" cy="182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2760" y="3931920"/>
            <a:ext cx="9144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Logs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5852160" y="4526280"/>
            <a:ext cx="365760" cy="320040"/>
          </a:xfrm>
          <a:prstGeom prst="downArrow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57200" y="4937760"/>
            <a:ext cx="11274552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4983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A745"/>
                </a:solidFill>
              </a:defRPr>
            </a:pPr>
            <a:r>
              <a:t>DATABASE LAYER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5349240"/>
            <a:ext cx="25603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985515" y="5486400"/>
            <a:ext cx="246888" cy="246888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85515" y="5532120"/>
            <a:ext cx="246888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5824727"/>
            <a:ext cx="24688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Source Database</a:t>
            </a:r>
            <a:br/>
            <a:r>
              <a:t>(Production)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4572000" y="5623560"/>
            <a:ext cx="548640" cy="320040"/>
          </a:xfrm>
          <a:prstGeom prst="rightArrow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Left Arrow 41"/>
          <p:cNvSpPr/>
          <p:nvPr/>
        </p:nvSpPr>
        <p:spPr>
          <a:xfrm>
            <a:off x="5120640" y="5623560"/>
            <a:ext cx="548640" cy="320040"/>
          </a:xfrm>
          <a:prstGeom prst="leftArrow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63440" y="53492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8A745"/>
                </a:solidFill>
              </a:defRPr>
            </a:pPr>
            <a:r>
              <a:t>CLONE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52160" y="5349240"/>
            <a:ext cx="256032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008876" y="5486400"/>
            <a:ext cx="246888" cy="246888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08876" y="5532120"/>
            <a:ext cx="246888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97880" y="5824727"/>
            <a:ext cx="24688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Target Database</a:t>
            </a:r>
            <a:br/>
            <a:r>
              <a:t>(Dev/Test)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5349240"/>
            <a:ext cx="22860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163556" y="5486400"/>
            <a:ext cx="246888" cy="246888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163556" y="5532120"/>
            <a:ext cx="246888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20" y="5824727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Oracle Network</a:t>
            </a:r>
            <a:br/>
            <a:r>
              <a:t>Connection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Detailed Component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7315200" cy="4846320"/>
          </a:xfrm>
          <a:prstGeom prst="roundRect">
            <a:avLst/>
          </a:prstGeom>
          <a:solidFill>
            <a:srgbClr val="FAFAFA"/>
          </a:solidFill>
          <a:ln w="381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74F00"/>
                </a:solidFill>
              </a:defRPr>
            </a:pPr>
            <a:r>
              <a:t>PDB MANAGEMENT TOOLKIT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00400" cy="12801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User Interface (PyQt6)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• Health Check Tab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PDB Clone Tab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Progress Display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920240"/>
            <a:ext cx="3383280" cy="12801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19659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74F00"/>
                </a:solidFill>
              </a:defRPr>
            </a:pPr>
            <a:r>
              <a:t>Clone Module (pdb_clone.py)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2860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• Pre-check Validation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Clone Execution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Post-check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3200400" cy="12801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4290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8A745"/>
                </a:solidFill>
              </a:defRPr>
            </a:pPr>
            <a:r>
              <a:t>Health Module (db_healthcheck.py)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39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• Performance Metrics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Storage Analysis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Error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3383280"/>
            <a:ext cx="3383280" cy="128016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0" y="3429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B1FA2"/>
                </a:solidFill>
              </a:defRPr>
            </a:pPr>
            <a:r>
              <a:t>Report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749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• HTML Report Creation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CSS Styling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• Audit Documentation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6766560" cy="1188720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66666"/>
                </a:solidFill>
              </a:defRPr>
            </a:pPr>
            <a:r>
              <a:t>Database Connection Layer (python-oracledb)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1208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33333"/>
                </a:solidFill>
              </a:defRPr>
            </a:pPr>
            <a:r>
              <a:t>• External Authentication (OS/Wallet)    • Username/Password    • Thick/Thin Mode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</a:defRPr>
            </a:pPr>
            <a:r>
              <a:t>OUTPUTS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920240"/>
            <a:ext cx="3657600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60" y="20116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A745"/>
                </a:solidFill>
              </a:defRPr>
            </a:pPr>
            <a:r>
              <a:t>Pre-Check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3317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Compatibility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926080"/>
            <a:ext cx="3657600" cy="8686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38160" y="30175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74F00"/>
                </a:solidFill>
              </a:defRPr>
            </a:pPr>
            <a:r>
              <a:t>Clone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3375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Execution progress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931920"/>
            <a:ext cx="3657600" cy="8686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38160" y="40233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66CC"/>
                </a:solidFill>
              </a:defRPr>
            </a:pPr>
            <a:r>
              <a:t>Post-Check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3434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Verification results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937760"/>
            <a:ext cx="3657600" cy="86868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38160" y="50292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B1FA2"/>
                </a:solidFill>
              </a:defRPr>
            </a:pPr>
            <a:r>
              <a:t>Health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53492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Performance metrics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772400" y="2286000"/>
            <a:ext cx="228600" cy="182880"/>
          </a:xfrm>
          <a:prstGeom prst="rightArrow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ight Arrow 34"/>
          <p:cNvSpPr/>
          <p:nvPr/>
        </p:nvSpPr>
        <p:spPr>
          <a:xfrm>
            <a:off x="7772400" y="3291840"/>
            <a:ext cx="228600" cy="182880"/>
          </a:xfrm>
          <a:prstGeom prst="rightArrow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ight Arrow 35"/>
          <p:cNvSpPr/>
          <p:nvPr/>
        </p:nvSpPr>
        <p:spPr>
          <a:xfrm>
            <a:off x="7772400" y="4297680"/>
            <a:ext cx="228600" cy="18288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ght Arrow 36"/>
          <p:cNvSpPr/>
          <p:nvPr/>
        </p:nvSpPr>
        <p:spPr>
          <a:xfrm>
            <a:off x="7772400" y="5303520"/>
            <a:ext cx="228600" cy="182880"/>
          </a:xfrm>
          <a:prstGeom prst="rightArrow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Automated Dynamic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Zero Manual Intervention - Intelligent Decision Making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11640312" cy="438912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173736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66CC"/>
                </a:solidFill>
              </a:defRPr>
            </a:pPr>
            <a: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User Initiates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86000" y="2331720"/>
            <a:ext cx="457200" cy="22860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77440" y="1920240"/>
            <a:ext cx="173736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23160" y="20116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7B1FA2"/>
                </a:solidFill>
              </a:defRPr>
            </a:pPr>
            <a:r>
              <a:t>AUTO-DETECT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Environment Scan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06240" y="2331720"/>
            <a:ext cx="457200" cy="228600"/>
          </a:xfrm>
          <a:prstGeom prst="rightArrow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97680" y="1920240"/>
            <a:ext cx="173736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20116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8A745"/>
                </a:solidFill>
              </a:defRPr>
            </a:pPr>
            <a: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Smart Pre-Check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126480" y="2331720"/>
            <a:ext cx="457200" cy="228600"/>
          </a:xfrm>
          <a:prstGeom prst="rightArrow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17920" y="1920240"/>
            <a:ext cx="173736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20116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74F00"/>
                </a:solidFill>
              </a:defRPr>
            </a:pPr>
            <a: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Dynamic Routing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046720" y="2331720"/>
            <a:ext cx="457200" cy="228600"/>
          </a:xfrm>
          <a:prstGeom prst="rightArrow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38160" y="1920240"/>
            <a:ext cx="173736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80" y="20116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66CC"/>
                </a:solidFill>
              </a:defRPr>
            </a:pPr>
            <a:r>
              <a:t>EXECUTE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Auto Clone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966960" y="2331720"/>
            <a:ext cx="457200" cy="22860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058400" y="1920240"/>
            <a:ext cx="173736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04120" y="20116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8A745"/>
                </a:solidFill>
              </a:defRPr>
            </a:pPr>
            <a: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Auto Post-Check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3383280"/>
            <a:ext cx="1645920" cy="8229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49240" y="3474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74F00"/>
                </a:solidFill>
              </a:defRPr>
            </a:pPr>
            <a:r>
              <a:t>Dynamic Decision Engine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3383280"/>
            <a:ext cx="1371600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60920" y="35661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8A745"/>
                </a:solidFill>
              </a:defRPr>
            </a:pPr>
            <a:r>
              <a:t>PROCEED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995160" y="3703320"/>
            <a:ext cx="274320" cy="182880"/>
          </a:xfrm>
          <a:prstGeom prst="rightArrow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474720" y="3383280"/>
            <a:ext cx="1371600" cy="82296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F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20440" y="35661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80000"/>
                </a:solidFill>
              </a:defRPr>
            </a:pPr>
            <a:r>
              <a:t>RETRY</a:t>
            </a:r>
          </a:p>
        </p:txBody>
      </p:sp>
      <p:sp>
        <p:nvSpPr>
          <p:cNvPr id="36" name="Left Arrow 35"/>
          <p:cNvSpPr/>
          <p:nvPr/>
        </p:nvSpPr>
        <p:spPr>
          <a:xfrm>
            <a:off x="5029200" y="3703320"/>
            <a:ext cx="274320" cy="182880"/>
          </a:xfrm>
          <a:prstGeom prst="leftArrow">
            <a:avLst/>
          </a:prstGeom>
          <a:solidFill>
            <a:srgbClr val="F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57200" y="4572000"/>
            <a:ext cx="2743200" cy="12801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463040" y="4663440"/>
            <a:ext cx="548640" cy="3657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463040" y="468172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AUTO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0749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66CC"/>
                </a:solidFill>
              </a:defRPr>
            </a:pPr>
            <a:r>
              <a:t>Auto-Detection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349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Automatically detects Oracle</a:t>
            </a:r>
            <a:br/>
            <a:r>
              <a:t>Client and environments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4572000"/>
            <a:ext cx="2743200" cy="12801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389120" y="4663440"/>
            <a:ext cx="548640" cy="36576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89120" y="468172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AUTO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50749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8A745"/>
                </a:solidFill>
              </a:defRPr>
            </a:pPr>
            <a:r>
              <a:t>Smart Validation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5349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Intelligent checks with</a:t>
            </a:r>
            <a:br/>
            <a:r>
              <a:t>auto-remediation hints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9360" y="4572000"/>
            <a:ext cx="2743200" cy="12801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315200" y="4663440"/>
            <a:ext cx="548640" cy="365760"/>
          </a:xfrm>
          <a:prstGeom prst="ellipse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200" y="468172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AUTO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0749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C74F00"/>
                </a:solidFill>
              </a:defRPr>
            </a:pPr>
            <a:r>
              <a:t>Dynamic Routing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349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Adapts workflow based</a:t>
            </a:r>
            <a:br/>
            <a:r>
              <a:t>on validation results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35440" y="4572000"/>
            <a:ext cx="2743200" cy="128016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241280" y="4663440"/>
            <a:ext cx="548640" cy="36576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241280" y="4681728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AUTO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50749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7B1FA2"/>
                </a:solidFill>
              </a:defRPr>
            </a:pPr>
            <a:r>
              <a:t>Self-Documenting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5349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Auto-generates reports</a:t>
            </a:r>
            <a:br/>
            <a:r>
              <a:t>with timestamps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74F00"/>
                </a:solidFill>
              </a:defRPr>
            </a:pPr>
            <a:r>
              <a:t>Fully automated end-to-end workflow - No manual steps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Step 1: Pre-Check Validation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731520" cy="73152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Before copying the database, the toolkit automatically checks everything is compatible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3474720" cy="13716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4360" y="2423160"/>
            <a:ext cx="457200" cy="45720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231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Database Version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Ensures both databases are same 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286000"/>
            <a:ext cx="3474720" cy="13716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251960" y="2423160"/>
            <a:ext cx="457200" cy="45720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2468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4231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Character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Confirms text encoding matches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286000"/>
            <a:ext cx="3474720" cy="13716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909560" y="2423160"/>
            <a:ext cx="457200" cy="45720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2468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4231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Storage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Verifies target has enough disk space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31920"/>
            <a:ext cx="3474720" cy="13716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114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069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Security (TDE)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572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Checks encryption settings match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3931920"/>
            <a:ext cx="3474720" cy="13716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251960" y="4069080"/>
            <a:ext cx="457200" cy="45720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51960" y="4114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4069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Timezone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4572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Confirms time settings are aligned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3931920"/>
            <a:ext cx="3474720" cy="13716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909560" y="4069080"/>
            <a:ext cx="457200" cy="45720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09560" y="4114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069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</a:defRPr>
            </a:pPr>
            <a:r>
              <a:t>Configuration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4572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Compares database parameters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94960"/>
            <a:ext cx="11274552" cy="9144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55778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A745"/>
                </a:solidFill>
              </a:defRPr>
            </a:pPr>
            <a:r>
              <a:t>Output: Pre-Check Report (HTML) with PASS/FAIL status for each validation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Step 2: Clone Execution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731520" cy="731520"/>
          </a:xfrm>
          <a:prstGeom prst="ellipse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The toolkit automatically copies the database to the target environment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2743200" cy="18288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8A745"/>
                </a:solidFill>
              </a:defRPr>
            </a:pPr>
            <a:r>
              <a:t>SOURCE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🗄️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Production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91840" y="3337560"/>
            <a:ext cx="731520" cy="365760"/>
          </a:xfrm>
          <a:prstGeom prst="rightArrow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114800" y="2286000"/>
            <a:ext cx="3959352" cy="237744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06240" y="2377440"/>
            <a:ext cx="37764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74F00"/>
                </a:solidFill>
              </a:defRPr>
            </a:pPr>
            <a:r>
              <a:t>CLONE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3464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1. Create Database Link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2. Execute Clone Command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3. Open New Database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4. Save State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165592" y="3337560"/>
            <a:ext cx="731520" cy="365760"/>
          </a:xfrm>
          <a:prstGeom prst="rightArrow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988552" y="2560320"/>
            <a:ext cx="2743200" cy="18288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79992" y="2651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6CC"/>
                </a:solidFill>
              </a:defRPr>
            </a:pPr>
            <a:r>
              <a:t>TARGET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310896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🗄️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3840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Dev /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54880"/>
            <a:ext cx="11274552" cy="731520"/>
          </a:xfrm>
          <a:prstGeom prst="roundRect">
            <a:avLst/>
          </a:prstGeom>
          <a:solidFill>
            <a:srgbClr val="FEF7E0"/>
          </a:solidFill>
          <a:ln w="127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89204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74F00"/>
                </a:solidFill>
              </a:defRPr>
            </a:pPr>
            <a:r>
              <a:t>Real-time progress displayed in the application - no guesswork!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77840"/>
            <a:ext cx="11274552" cy="7315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74F00"/>
                </a:solidFill>
              </a:defRPr>
            </a:pPr>
            <a:r>
              <a:t>Output: New database created and opened - ready for use!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Step 3: Post-Check Verification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731520" cy="73152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66666"/>
                </a:solidFill>
              </a:defRPr>
            </a:pPr>
            <a:r>
              <a:t>After cloning, the toolkit verifies the new database matches the original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029200" cy="27432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8A745"/>
                </a:solidFill>
              </a:defRPr>
            </a:pPr>
            <a:r>
              <a:t>SOURCE (Original)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 Database Size: 45.73 GB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 Parameters: 127 custom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 Services: 3 active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 Status: READ WRITE</a:t>
            </a:r>
          </a:p>
        </p:txBody>
      </p:sp>
      <p:sp>
        <p:nvSpPr>
          <p:cNvPr id="10" name="Oval 9"/>
          <p:cNvSpPr/>
          <p:nvPr/>
        </p:nvSpPr>
        <p:spPr>
          <a:xfrm>
            <a:off x="5623560" y="3291840"/>
            <a:ext cx="914400" cy="914400"/>
          </a:xfrm>
          <a:prstGeom prst="ellipse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23560" y="35204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=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02552" y="2377440"/>
            <a:ext cx="5029200" cy="27432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93992" y="24688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TARGET (New Copy)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2" y="292608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 Database Size: 45.73 GB  ✓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 Parameters: 127 custom  ✓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 Services: 3 active  ✓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 Status: READ WRITE  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94960"/>
            <a:ext cx="11274552" cy="9144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557784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6CC"/>
                </a:solidFill>
              </a:defRPr>
            </a:pPr>
            <a:r>
              <a:t>Output: Post-Check Report (HTML) documenting all comparisons for audit compliance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1031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Software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 Python 3.8+ (free)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 Oracle Client libraries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 Windows / Linux / Mac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371600"/>
            <a:ext cx="5486400" cy="21031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36792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A745"/>
                </a:solidFill>
              </a:defRPr>
            </a:pPr>
            <a:r>
              <a:t>Database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 Oracle 19c / 21c / 23ai / 26ai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 DBA access permissions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 Network connectivity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5486400" cy="21031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74F00"/>
                </a:solidFill>
              </a:defRPr>
            </a:pPr>
            <a:r>
              <a:t>Security 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 Windows SSO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 Oracle Wallet credentials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 Username / Password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3657600"/>
            <a:ext cx="5486400" cy="21031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374903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A745"/>
                </a:solidFill>
              </a:defRPr>
            </a:pPr>
            <a:r>
              <a:t>No Additional Hardware!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062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Runs on any standard computer that can connect to your Oracle databases. No servers or special hardware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Business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02152" cy="18288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47088" y="1554480"/>
            <a:ext cx="548640" cy="5486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47088" y="1600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319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Reduce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3319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Automated checks prevent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371600"/>
            <a:ext cx="3502152" cy="18288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504688" y="1554480"/>
            <a:ext cx="548640" cy="54864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04688" y="1600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194560"/>
            <a:ext cx="3319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Save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606040"/>
            <a:ext cx="3319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Hours reduced to minutes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371600"/>
            <a:ext cx="3502152" cy="18288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62288" y="1554480"/>
            <a:ext cx="548640" cy="548640"/>
          </a:xfrm>
          <a:prstGeom prst="ellipse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62288" y="1600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194560"/>
            <a:ext cx="3319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Audit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06040"/>
            <a:ext cx="3319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Professional documentation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57600"/>
            <a:ext cx="3502152" cy="18288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847088" y="3840480"/>
            <a:ext cx="548640" cy="548640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47088" y="3886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80560"/>
            <a:ext cx="3319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Lower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3319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Validated, repeatable process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3657600"/>
            <a:ext cx="3502152" cy="18288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504688" y="3840480"/>
            <a:ext cx="548640" cy="54864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04688" y="3886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480560"/>
            <a:ext cx="3319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Easy to 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4892040"/>
            <a:ext cx="3319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Visual interface, no coding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3657600"/>
            <a:ext cx="3502152" cy="18288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C74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162288" y="3840480"/>
            <a:ext cx="548640" cy="548640"/>
          </a:xfrm>
          <a:prstGeom prst="ellipse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62288" y="38862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480560"/>
            <a:ext cx="33192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</a:defRPr>
            </a:pPr>
            <a:r>
              <a:t>Cost Effective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892040"/>
            <a:ext cx="3319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Built with free tools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Bonus Feature: Database Health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Beyond cloning, the toolkit also monitors database health:</a:t>
            </a:r>
          </a:p>
          <a:p>
            <a:pPr>
              <a:spcAft>
                <a:spcPts val="1000"/>
              </a:spcAft>
              <a:defRPr sz="1200"/>
            </a:pPr>
            <a:endParaRPr/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Performance Metrics</a:t>
            </a:r>
          </a:p>
          <a:p>
            <a:pPr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   Identifies slow queries and resource bottlenecks</a:t>
            </a:r>
          </a:p>
          <a:p>
            <a:pPr>
              <a:spcAft>
                <a:spcPts val="1000"/>
              </a:spcAft>
              <a:defRPr sz="1200"/>
            </a:pPr>
            <a:endParaRPr/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Storage Monitoring</a:t>
            </a:r>
          </a:p>
          <a:p>
            <a:pPr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   Tracks tablespace usage and warns before running out</a:t>
            </a:r>
          </a:p>
          <a:p>
            <a:pPr>
              <a:spcAft>
                <a:spcPts val="1000"/>
              </a:spcAft>
              <a:defRPr sz="1200"/>
            </a:pPr>
            <a:endParaRPr/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Error Detection</a:t>
            </a:r>
          </a:p>
          <a:p>
            <a:pPr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   Scans for recent database errors automatically</a:t>
            </a:r>
          </a:p>
          <a:p>
            <a:pPr>
              <a:spcAft>
                <a:spcPts val="1000"/>
              </a:spcAft>
              <a:defRPr sz="1200"/>
            </a:pPr>
            <a:endParaRPr/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Reports can be generated anytime for any Oracle database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The Oracle PDB Management Toolkit provides:</a:t>
            </a:r>
          </a:p>
          <a:p>
            <a:pPr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   Automated dynamic workflow for database cloning</a:t>
            </a:r>
          </a:p>
          <a:p>
            <a:pPr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   Intelligent decision engine with zero manual intervention</a:t>
            </a:r>
          </a:p>
          <a:p>
            <a:pPr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   Professional documentation for compliance</a:t>
            </a:r>
          </a:p>
          <a:p>
            <a:pPr>
              <a:spcAft>
                <a:spcPts val="1000"/>
              </a:spcAft>
              <a:defRPr sz="1200"/>
            </a:pPr>
            <a:endParaRPr/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Next Steps:</a:t>
            </a:r>
          </a:p>
          <a:p>
            <a:pPr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   1. Review requirements with IT team</a:t>
            </a:r>
          </a:p>
          <a:p>
            <a:pPr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   2. Identify pilot databases for testing</a:t>
            </a:r>
          </a:p>
          <a:p>
            <a:pPr>
              <a:spcAft>
                <a:spcPts val="1000"/>
              </a:spcAft>
              <a:defRPr sz="1800">
                <a:solidFill>
                  <a:srgbClr val="666666"/>
                </a:solidFill>
              </a:defRPr>
            </a:pPr>
            <a:r>
              <a:t>     3. Schedule installation and training</a:t>
            </a:r>
          </a:p>
          <a:p>
            <a:pPr>
              <a:spcAft>
                <a:spcPts val="1000"/>
              </a:spcAft>
              <a:defRPr sz="1200"/>
            </a:pPr>
            <a:endParaRPr/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</a:defRPr>
            </a:pPr>
            <a:r>
              <a:t>•  Questions?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C7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Oracle PDB Management Toolkit</a:t>
            </a:r>
            <a:br/>
            <a:r>
              <a:t>Automated Dynamic Workflow for Database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3342</Words>
  <Application>Microsoft Office PowerPoint</Application>
  <PresentationFormat>Custom</PresentationFormat>
  <Paragraphs>651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2026-02-16T02:45:25Z</dcterms:modified>
  <cp:category/>
</cp:coreProperties>
</file>